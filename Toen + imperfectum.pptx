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jftmYyEQ1Cm0i1HQ1Q/wAVNMNv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66"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7" name="Google Shape;10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6" name="Google Shape;14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8" name="Google Shape;15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1" name="Google Shape;181;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33c25fdeb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8" name="Google Shape;188;g333c25fdeb4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5" name="Google Shape;195;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3" name="Google Shape;203;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9" name="Google Shape;209;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5" name="Google Shape;215;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eldia" type="title">
  <p:cSld name="TITLE">
    <p:spTree>
      <p:nvGrpSpPr>
        <p:cNvPr id="1" name="Shape 11"/>
        <p:cNvGrpSpPr/>
        <p:nvPr/>
      </p:nvGrpSpPr>
      <p:grpSpPr>
        <a:xfrm>
          <a:off x="0" y="0"/>
          <a:ext cx="0" cy="0"/>
          <a:chOff x="0" y="0"/>
          <a:chExt cx="0" cy="0"/>
        </a:xfrm>
      </p:grpSpPr>
      <p:sp>
        <p:nvSpPr>
          <p:cNvPr id="12" name="Google Shape;12;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nl-BE"/>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lleen titel" type="titleOnly">
  <p:cSld name="TITLE_ONLY">
    <p:spTree>
      <p:nvGrpSpPr>
        <p:cNvPr id="1" name="Shape 17"/>
        <p:cNvGrpSpPr/>
        <p:nvPr/>
      </p:nvGrpSpPr>
      <p:grpSpPr>
        <a:xfrm>
          <a:off x="0" y="0"/>
          <a:ext cx="0" cy="0"/>
          <a:chOff x="0" y="0"/>
          <a:chExt cx="0" cy="0"/>
        </a:xfrm>
      </p:grpSpPr>
      <p:sp>
        <p:nvSpPr>
          <p:cNvPr id="18" name="Google Shape;18;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nl-BE"/>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fbeelding met bijschrift" type="picTx">
  <p:cSld name="PICTURE_WITH_CAPTION_TEXT">
    <p:spTree>
      <p:nvGrpSpPr>
        <p:cNvPr id="1" name="Shape 22"/>
        <p:cNvGrpSpPr/>
        <p:nvPr/>
      </p:nvGrpSpPr>
      <p:grpSpPr>
        <a:xfrm>
          <a:off x="0" y="0"/>
          <a:ext cx="0" cy="0"/>
          <a:chOff x="0" y="0"/>
          <a:chExt cx="0" cy="0"/>
        </a:xfrm>
      </p:grpSpPr>
      <p:sp>
        <p:nvSpPr>
          <p:cNvPr id="23" name="Google Shape;2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2"/>
          <p:cNvSpPr>
            <a:spLocks noGrp="1"/>
          </p:cNvSpPr>
          <p:nvPr>
            <p:ph type="pic" idx="2"/>
          </p:nvPr>
        </p:nvSpPr>
        <p:spPr>
          <a:xfrm>
            <a:off x="5183188" y="987425"/>
            <a:ext cx="6172200" cy="4873625"/>
          </a:xfrm>
          <a:prstGeom prst="rect">
            <a:avLst/>
          </a:prstGeom>
          <a:noFill/>
          <a:ln>
            <a:noFill/>
          </a:ln>
        </p:spPr>
      </p:sp>
      <p:sp>
        <p:nvSpPr>
          <p:cNvPr id="25" name="Google Shape;25;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6" name="Google Shape;2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nl-BE"/>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el en object" type="obj">
  <p:cSld name="OBJECT">
    <p:spTree>
      <p:nvGrpSpPr>
        <p:cNvPr id="1" name="Shape 29"/>
        <p:cNvGrpSpPr/>
        <p:nvPr/>
      </p:nvGrpSpPr>
      <p:grpSpPr>
        <a:xfrm>
          <a:off x="0" y="0"/>
          <a:ext cx="0" cy="0"/>
          <a:chOff x="0" y="0"/>
          <a:chExt cx="0" cy="0"/>
        </a:xfrm>
      </p:grpSpPr>
      <p:sp>
        <p:nvSpPr>
          <p:cNvPr id="30" name="Google Shape;3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nl-BE"/>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ekop" type="secHead">
  <p:cSld name="SECTION_HEADER">
    <p:spTree>
      <p:nvGrpSpPr>
        <p:cNvPr id="1" name="Shape 35"/>
        <p:cNvGrpSpPr/>
        <p:nvPr/>
      </p:nvGrpSpPr>
      <p:grpSpPr>
        <a:xfrm>
          <a:off x="0" y="0"/>
          <a:ext cx="0" cy="0"/>
          <a:chOff x="0" y="0"/>
          <a:chExt cx="0" cy="0"/>
        </a:xfrm>
      </p:grpSpPr>
      <p:sp>
        <p:nvSpPr>
          <p:cNvPr id="36" name="Google Shape;3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8" name="Google Shape;3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nl-BE"/>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Inhoud van twee" type="twoObj">
  <p:cSld name="TWO_OBJECTS">
    <p:spTree>
      <p:nvGrpSpPr>
        <p:cNvPr id="1" name="Shape 41"/>
        <p:cNvGrpSpPr/>
        <p:nvPr/>
      </p:nvGrpSpPr>
      <p:grpSpPr>
        <a:xfrm>
          <a:off x="0" y="0"/>
          <a:ext cx="0" cy="0"/>
          <a:chOff x="0" y="0"/>
          <a:chExt cx="0" cy="0"/>
        </a:xfrm>
      </p:grpSpPr>
      <p:sp>
        <p:nvSpPr>
          <p:cNvPr id="42" name="Google Shape;4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nl-BE"/>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gelijking" type="twoTxTwoObj">
  <p:cSld name="TWO_OBJECTS_WITH_TEXT">
    <p:spTree>
      <p:nvGrpSpPr>
        <p:cNvPr id="1" name="Shape 48"/>
        <p:cNvGrpSpPr/>
        <p:nvPr/>
      </p:nvGrpSpPr>
      <p:grpSpPr>
        <a:xfrm>
          <a:off x="0" y="0"/>
          <a:ext cx="0" cy="0"/>
          <a:chOff x="0" y="0"/>
          <a:chExt cx="0" cy="0"/>
        </a:xfrm>
      </p:grpSpPr>
      <p:sp>
        <p:nvSpPr>
          <p:cNvPr id="49" name="Google Shape;4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nl-BE"/>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eeg" type="blank">
  <p:cSld name="BLANK">
    <p:spTree>
      <p:nvGrpSpPr>
        <p:cNvPr id="1" name="Shape 57"/>
        <p:cNvGrpSpPr/>
        <p:nvPr/>
      </p:nvGrpSpPr>
      <p:grpSpPr>
        <a:xfrm>
          <a:off x="0" y="0"/>
          <a:ext cx="0" cy="0"/>
          <a:chOff x="0" y="0"/>
          <a:chExt cx="0" cy="0"/>
        </a:xfrm>
      </p:grpSpPr>
      <p:sp>
        <p:nvSpPr>
          <p:cNvPr id="58" name="Google Shape;5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nl-BE"/>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nhoud met bijschrift" type="objTx">
  <p:cSld name="OBJECT_WITH_CAPTION_TEXT">
    <p:spTree>
      <p:nvGrpSpPr>
        <p:cNvPr id="1" name="Shape 61"/>
        <p:cNvGrpSpPr/>
        <p:nvPr/>
      </p:nvGrpSpPr>
      <p:grpSpPr>
        <a:xfrm>
          <a:off x="0" y="0"/>
          <a:ext cx="0" cy="0"/>
          <a:chOff x="0" y="0"/>
          <a:chExt cx="0" cy="0"/>
        </a:xfrm>
      </p:grpSpPr>
      <p:sp>
        <p:nvSpPr>
          <p:cNvPr id="62" name="Google Shape;62;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4" name="Google Shape;64;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nl-BE"/>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el en verticale tekst" type="vertTx">
  <p:cSld name="VERTICAL_TEXT">
    <p:spTree>
      <p:nvGrpSpPr>
        <p:cNvPr id="1" name="Shape 68"/>
        <p:cNvGrpSpPr/>
        <p:nvPr/>
      </p:nvGrpSpPr>
      <p:grpSpPr>
        <a:xfrm>
          <a:off x="0" y="0"/>
          <a:ext cx="0" cy="0"/>
          <a:chOff x="0" y="0"/>
          <a:chExt cx="0" cy="0"/>
        </a:xfrm>
      </p:grpSpPr>
      <p:sp>
        <p:nvSpPr>
          <p:cNvPr id="69" name="Google Shape;69;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nl-BE"/>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e titel en tekst" type="vertTitleAndTx">
  <p:cSld name="VERTICAL_TITLE_AND_VERTICAL_TEXT">
    <p:spTree>
      <p:nvGrpSpPr>
        <p:cNvPr id="1" name="Shape 74"/>
        <p:cNvGrpSpPr/>
        <p:nvPr/>
      </p:nvGrpSpPr>
      <p:grpSpPr>
        <a:xfrm>
          <a:off x="0" y="0"/>
          <a:ext cx="0" cy="0"/>
          <a:chOff x="0" y="0"/>
          <a:chExt cx="0" cy="0"/>
        </a:xfrm>
      </p:grpSpPr>
      <p:sp>
        <p:nvSpPr>
          <p:cNvPr id="75" name="Google Shape;75;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nl-BE"/>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nl-BE"/>
              <a:t>‹nr.›</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1"/>
              </a:buClr>
              <a:buSzPts val="6000"/>
              <a:buFont typeface="Calibri"/>
              <a:buNone/>
            </a:pPr>
            <a:r>
              <a:rPr lang="nl-BE">
                <a:solidFill>
                  <a:schemeClr val="accent1"/>
                </a:solidFill>
              </a:rPr>
              <a:t>Hoe maken we een lange zin met TOEN?</a:t>
            </a:r>
            <a:endParaRPr/>
          </a:p>
        </p:txBody>
      </p:sp>
      <p:pic>
        <p:nvPicPr>
          <p:cNvPr id="85" name="Google Shape;85;p1"/>
          <p:cNvPicPr preferRelativeResize="0"/>
          <p:nvPr/>
        </p:nvPicPr>
        <p:blipFill rotWithShape="1">
          <a:blip r:embed="rId3">
            <a:alphaModFix/>
          </a:blip>
          <a:srcRect/>
          <a:stretch/>
        </p:blipFill>
        <p:spPr>
          <a:xfrm>
            <a:off x="11488738" y="6154738"/>
            <a:ext cx="487362" cy="48736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586740" y="308610"/>
            <a:ext cx="10515600" cy="637794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2800"/>
              <a:buNone/>
            </a:pPr>
            <a:r>
              <a:rPr lang="nl-BE" sz="2800" b="1" i="1" dirty="0">
                <a:solidFill>
                  <a:srgbClr val="2F5496"/>
                </a:solidFill>
              </a:rPr>
              <a:t>Toen</a:t>
            </a:r>
            <a:r>
              <a:rPr lang="nl-BE" sz="2800" dirty="0">
                <a:solidFill>
                  <a:srgbClr val="2F5496"/>
                </a:solidFill>
              </a:rPr>
              <a:t> &gt; We maken van 2 aparte korte zinnen 1 lange zin</a:t>
            </a:r>
            <a:br>
              <a:rPr lang="nl-BE" sz="2800" dirty="0">
                <a:solidFill>
                  <a:srgbClr val="2F5496"/>
                </a:solidFill>
              </a:rPr>
            </a:br>
            <a:br>
              <a:rPr lang="nl-BE" sz="2800" dirty="0"/>
            </a:br>
            <a:br>
              <a:rPr lang="nl-BE" sz="2800" dirty="0"/>
            </a:br>
            <a:r>
              <a:rPr lang="nl-BE" sz="2800" dirty="0">
                <a:solidFill>
                  <a:srgbClr val="2F5496"/>
                </a:solidFill>
              </a:rPr>
              <a:t>Ik at graag chocolade. Ik was een klein meisje. </a:t>
            </a:r>
            <a:br>
              <a:rPr lang="nl-BE" sz="2800" dirty="0">
                <a:solidFill>
                  <a:srgbClr val="2F5496"/>
                </a:solidFill>
              </a:rPr>
            </a:br>
            <a:r>
              <a:rPr lang="nl-BE" sz="2800" dirty="0">
                <a:solidFill>
                  <a:srgbClr val="2F5496"/>
                </a:solidFill>
              </a:rPr>
              <a:t>          </a:t>
            </a:r>
            <a:br>
              <a:rPr lang="nl-BE" sz="2800" dirty="0">
                <a:solidFill>
                  <a:srgbClr val="2F5496"/>
                </a:solidFill>
              </a:rPr>
            </a:br>
            <a:r>
              <a:rPr lang="nl-BE" sz="2800" dirty="0">
                <a:solidFill>
                  <a:srgbClr val="2F5496"/>
                </a:solidFill>
              </a:rPr>
              <a:t>1) Ik at graag chocolade</a:t>
            </a:r>
            <a:br>
              <a:rPr lang="nl-BE" sz="2800" dirty="0">
                <a:solidFill>
                  <a:srgbClr val="2F5496"/>
                </a:solidFill>
              </a:rPr>
            </a:br>
            <a:r>
              <a:rPr lang="nl-BE" sz="2800" dirty="0">
                <a:solidFill>
                  <a:srgbClr val="2F5496"/>
                </a:solidFill>
              </a:rPr>
              <a:t>2) Ik was een klein meisje</a:t>
            </a:r>
            <a:br>
              <a:rPr lang="nl-BE" sz="2800" dirty="0">
                <a:solidFill>
                  <a:srgbClr val="2F5496"/>
                </a:solidFill>
              </a:rPr>
            </a:br>
            <a:br>
              <a:rPr lang="nl-BE" sz="2800" dirty="0">
                <a:solidFill>
                  <a:srgbClr val="2F5496"/>
                </a:solidFill>
              </a:rPr>
            </a:br>
            <a:r>
              <a:rPr lang="nl-BE" sz="2800" dirty="0">
                <a:solidFill>
                  <a:srgbClr val="2F5496"/>
                </a:solidFill>
              </a:rPr>
              <a:t>We gebruiken </a:t>
            </a:r>
            <a:r>
              <a:rPr lang="nl-BE" sz="2800" b="1" dirty="0">
                <a:solidFill>
                  <a:srgbClr val="2F5496"/>
                </a:solidFill>
              </a:rPr>
              <a:t>TOEN altijd met </a:t>
            </a:r>
            <a:r>
              <a:rPr lang="nl-BE" sz="2800" dirty="0">
                <a:solidFill>
                  <a:srgbClr val="2F5496"/>
                </a:solidFill>
              </a:rPr>
              <a:t>de </a:t>
            </a:r>
            <a:r>
              <a:rPr lang="nl-BE" sz="2800" b="1" dirty="0">
                <a:solidFill>
                  <a:srgbClr val="2F5496"/>
                </a:solidFill>
              </a:rPr>
              <a:t>IMPERFECTUM</a:t>
            </a:r>
            <a:r>
              <a:rPr lang="nl-BE" sz="2800" dirty="0">
                <a:solidFill>
                  <a:srgbClr val="2F5496"/>
                </a:solidFill>
              </a:rPr>
              <a:t> (wat DEED jij?)</a:t>
            </a:r>
            <a:br>
              <a:rPr lang="nl-BE" dirty="0">
                <a:solidFill>
                  <a:srgbClr val="2F5496"/>
                </a:solidFill>
              </a:rPr>
            </a:br>
            <a:endParaRPr sz="2800" dirty="0">
              <a:solidFill>
                <a:srgbClr val="2F5496"/>
              </a:solidFill>
            </a:endParaRPr>
          </a:p>
        </p:txBody>
      </p:sp>
      <p:pic>
        <p:nvPicPr>
          <p:cNvPr id="91" name="Google Shape;91;p2"/>
          <p:cNvPicPr preferRelativeResize="0"/>
          <p:nvPr/>
        </p:nvPicPr>
        <p:blipFill rotWithShape="1">
          <a:blip r:embed="rId3">
            <a:alphaModFix/>
          </a:blip>
          <a:srcRect/>
          <a:stretch/>
        </p:blipFill>
        <p:spPr>
          <a:xfrm>
            <a:off x="11488738" y="6154738"/>
            <a:ext cx="487362" cy="48736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4"/>
          <p:cNvSpPr txBox="1">
            <a:spLocks noGrp="1"/>
          </p:cNvSpPr>
          <p:nvPr>
            <p:ph type="title"/>
          </p:nvPr>
        </p:nvSpPr>
        <p:spPr>
          <a:xfrm>
            <a:off x="586740" y="308610"/>
            <a:ext cx="10515600" cy="637794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2800"/>
              <a:buFont typeface="Calibri"/>
              <a:buNone/>
            </a:pPr>
            <a:r>
              <a:rPr lang="nl-BE" sz="2800" b="1" i="1">
                <a:solidFill>
                  <a:srgbClr val="2F5496"/>
                </a:solidFill>
              </a:rPr>
              <a:t>				Toen</a:t>
            </a:r>
            <a:r>
              <a:rPr lang="nl-BE" sz="2800">
                <a:solidFill>
                  <a:srgbClr val="2F5496"/>
                </a:solidFill>
              </a:rPr>
              <a:t> &gt; 2 zinnen samenzetten.</a:t>
            </a:r>
            <a:br>
              <a:rPr lang="nl-BE" sz="2800"/>
            </a:br>
            <a:br>
              <a:rPr lang="nl-BE" sz="2800"/>
            </a:br>
            <a:r>
              <a:rPr lang="nl-BE" sz="2800">
                <a:solidFill>
                  <a:srgbClr val="2F5496"/>
                </a:solidFill>
              </a:rPr>
              <a:t>Ik at graag chocolade. Ik was een klein meisje. </a:t>
            </a:r>
            <a:br>
              <a:rPr lang="nl-BE" sz="2800">
                <a:solidFill>
                  <a:srgbClr val="2F5496"/>
                </a:solidFill>
              </a:rPr>
            </a:br>
            <a:r>
              <a:rPr lang="nl-BE" sz="2800">
                <a:solidFill>
                  <a:srgbClr val="2F5496"/>
                </a:solidFill>
              </a:rPr>
              <a:t> </a:t>
            </a:r>
            <a:br>
              <a:rPr lang="nl-BE" sz="2800">
                <a:solidFill>
                  <a:srgbClr val="2F5496"/>
                </a:solidFill>
              </a:rPr>
            </a:br>
            <a:r>
              <a:rPr lang="nl-BE" sz="2800">
                <a:solidFill>
                  <a:schemeClr val="dk1"/>
                </a:solidFill>
              </a:rPr>
              <a:t>2 opties: OPTIE 1 we zetten </a:t>
            </a:r>
            <a:r>
              <a:rPr lang="nl-BE" sz="2800">
                <a:solidFill>
                  <a:srgbClr val="FF0000"/>
                </a:solidFill>
              </a:rPr>
              <a:t>TOEN in het MIDDEN </a:t>
            </a:r>
            <a:r>
              <a:rPr lang="nl-BE" sz="2800">
                <a:solidFill>
                  <a:schemeClr val="dk1"/>
                </a:solidFill>
              </a:rPr>
              <a:t>van de zin.</a:t>
            </a:r>
            <a:br>
              <a:rPr lang="nl-BE" sz="2800">
                <a:solidFill>
                  <a:schemeClr val="dk1"/>
                </a:solidFill>
              </a:rPr>
            </a:br>
            <a:r>
              <a:rPr lang="nl-BE" sz="2800">
                <a:solidFill>
                  <a:srgbClr val="2F5496"/>
                </a:solidFill>
              </a:rPr>
              <a:t> </a:t>
            </a:r>
            <a:br>
              <a:rPr lang="nl-BE" sz="2800">
                <a:solidFill>
                  <a:srgbClr val="2F5496"/>
                </a:solidFill>
              </a:rPr>
            </a:br>
            <a:r>
              <a:rPr lang="nl-BE" sz="2800">
                <a:solidFill>
                  <a:srgbClr val="2F5496"/>
                </a:solidFill>
              </a:rPr>
              <a:t>Ik at graag chocolade, toen ik een klein meisje </a:t>
            </a:r>
            <a:r>
              <a:rPr lang="nl-BE" sz="2800" b="1" i="1">
                <a:solidFill>
                  <a:srgbClr val="2F5496"/>
                </a:solidFill>
              </a:rPr>
              <a:t>was</a:t>
            </a:r>
            <a:r>
              <a:rPr lang="nl-BE" sz="2800">
                <a:solidFill>
                  <a:srgbClr val="2F5496"/>
                </a:solidFill>
              </a:rPr>
              <a:t>. </a:t>
            </a:r>
            <a:br>
              <a:rPr lang="nl-BE" sz="2800">
                <a:solidFill>
                  <a:srgbClr val="2F5496"/>
                </a:solidFill>
              </a:rPr>
            </a:br>
            <a:br>
              <a:rPr lang="nl-BE" sz="2800">
                <a:solidFill>
                  <a:srgbClr val="2F5496"/>
                </a:solidFill>
              </a:rPr>
            </a:br>
            <a:br>
              <a:rPr lang="nl-BE" sz="2800">
                <a:solidFill>
                  <a:srgbClr val="2F5496"/>
                </a:solidFill>
              </a:rPr>
            </a:br>
            <a:br>
              <a:rPr lang="nl-BE">
                <a:solidFill>
                  <a:srgbClr val="2F5496"/>
                </a:solidFill>
              </a:rPr>
            </a:br>
            <a:endParaRPr sz="2800">
              <a:solidFill>
                <a:srgbClr val="2F5496"/>
              </a:solidFill>
            </a:endParaRPr>
          </a:p>
        </p:txBody>
      </p:sp>
      <p:sp>
        <p:nvSpPr>
          <p:cNvPr id="102" name="Google Shape;102;p4"/>
          <p:cNvSpPr/>
          <p:nvPr/>
        </p:nvSpPr>
        <p:spPr>
          <a:xfrm>
            <a:off x="4262330" y="3981765"/>
            <a:ext cx="3440400" cy="537300"/>
          </a:xfrm>
          <a:prstGeom prst="curvedUpArrow">
            <a:avLst>
              <a:gd name="adj1" fmla="val 25000"/>
              <a:gd name="adj2" fmla="val 50000"/>
              <a:gd name="adj3" fmla="val 25000"/>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03" name="Google Shape;103;p4"/>
          <p:cNvPicPr preferRelativeResize="0"/>
          <p:nvPr/>
        </p:nvPicPr>
        <p:blipFill rotWithShape="1">
          <a:blip r:embed="rId3">
            <a:alphaModFix/>
          </a:blip>
          <a:srcRect/>
          <a:stretch/>
        </p:blipFill>
        <p:spPr>
          <a:xfrm>
            <a:off x="4778375" y="4883720"/>
            <a:ext cx="806450" cy="501650"/>
          </a:xfrm>
          <a:prstGeom prst="rect">
            <a:avLst/>
          </a:prstGeom>
          <a:noFill/>
          <a:ln>
            <a:noFill/>
          </a:ln>
        </p:spPr>
      </p:pic>
      <p:pic>
        <p:nvPicPr>
          <p:cNvPr id="104" name="Google Shape;104;p4"/>
          <p:cNvPicPr preferRelativeResize="0"/>
          <p:nvPr/>
        </p:nvPicPr>
        <p:blipFill rotWithShape="1">
          <a:blip r:embed="rId4">
            <a:alphaModFix/>
          </a:blip>
          <a:srcRect/>
          <a:stretch/>
        </p:blipFill>
        <p:spPr>
          <a:xfrm>
            <a:off x="11488738" y="6154738"/>
            <a:ext cx="487362" cy="48736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5"/>
          <p:cNvSpPr txBox="1">
            <a:spLocks noGrp="1"/>
          </p:cNvSpPr>
          <p:nvPr>
            <p:ph type="title"/>
          </p:nvPr>
        </p:nvSpPr>
        <p:spPr>
          <a:xfrm>
            <a:off x="586740" y="308610"/>
            <a:ext cx="10515600" cy="637794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2800"/>
              <a:buFont typeface="Calibri"/>
              <a:buNone/>
            </a:pPr>
            <a:r>
              <a:rPr lang="nl-BE" sz="2800" b="1" i="1">
                <a:solidFill>
                  <a:srgbClr val="2F5496"/>
                </a:solidFill>
              </a:rPr>
              <a:t>				Toen</a:t>
            </a:r>
            <a:r>
              <a:rPr lang="nl-BE" sz="2800">
                <a:solidFill>
                  <a:srgbClr val="2F5496"/>
                </a:solidFill>
              </a:rPr>
              <a:t> &gt; 2 zinnen integreren.</a:t>
            </a:r>
            <a:br>
              <a:rPr lang="nl-BE" sz="2800"/>
            </a:br>
            <a:br>
              <a:rPr lang="nl-BE" sz="2800"/>
            </a:br>
            <a:r>
              <a:rPr lang="nl-BE" sz="2800">
                <a:solidFill>
                  <a:srgbClr val="2F5496"/>
                </a:solidFill>
              </a:rPr>
              <a:t>Ik at graag chocolade. Ik was een klein meisje. </a:t>
            </a:r>
            <a:br>
              <a:rPr lang="nl-BE" sz="2800">
                <a:solidFill>
                  <a:srgbClr val="2F5496"/>
                </a:solidFill>
              </a:rPr>
            </a:br>
            <a:r>
              <a:rPr lang="nl-BE" sz="2800">
                <a:solidFill>
                  <a:srgbClr val="2F5496"/>
                </a:solidFill>
              </a:rPr>
              <a:t> </a:t>
            </a:r>
            <a:br>
              <a:rPr lang="nl-BE" sz="2800">
                <a:solidFill>
                  <a:srgbClr val="2F5496"/>
                </a:solidFill>
              </a:rPr>
            </a:br>
            <a:r>
              <a:rPr lang="nl-BE" sz="2800">
                <a:solidFill>
                  <a:srgbClr val="2F5496"/>
                </a:solidFill>
              </a:rPr>
              <a:t>2 opties: OPTIE 2: We zetten </a:t>
            </a:r>
            <a:r>
              <a:rPr lang="nl-BE" sz="2800">
                <a:solidFill>
                  <a:srgbClr val="FF0000"/>
                </a:solidFill>
              </a:rPr>
              <a:t>TOEN aan HET BEGIN </a:t>
            </a:r>
            <a:r>
              <a:rPr lang="nl-BE" sz="2800">
                <a:solidFill>
                  <a:srgbClr val="2F5496"/>
                </a:solidFill>
              </a:rPr>
              <a:t>van de zin.</a:t>
            </a:r>
            <a:br>
              <a:rPr lang="nl-BE" sz="2800">
                <a:solidFill>
                  <a:srgbClr val="2F5496"/>
                </a:solidFill>
              </a:rPr>
            </a:br>
            <a:r>
              <a:rPr lang="nl-BE" sz="2800">
                <a:solidFill>
                  <a:srgbClr val="2F5496"/>
                </a:solidFill>
              </a:rPr>
              <a:t> </a:t>
            </a:r>
            <a:br>
              <a:rPr lang="nl-BE" sz="2800">
                <a:solidFill>
                  <a:srgbClr val="2F5496"/>
                </a:solidFill>
              </a:rPr>
            </a:br>
            <a:r>
              <a:rPr lang="nl-BE" sz="2800">
                <a:solidFill>
                  <a:srgbClr val="2F5496"/>
                </a:solidFill>
              </a:rPr>
              <a:t>Ik at graag chocolade, toen ik een klein meisje </a:t>
            </a:r>
            <a:r>
              <a:rPr lang="nl-BE" sz="2800" b="1" i="1">
                <a:solidFill>
                  <a:srgbClr val="2F5496"/>
                </a:solidFill>
              </a:rPr>
              <a:t>was</a:t>
            </a:r>
            <a:r>
              <a:rPr lang="nl-BE" sz="2800">
                <a:solidFill>
                  <a:srgbClr val="2F5496"/>
                </a:solidFill>
              </a:rPr>
              <a:t>. </a:t>
            </a:r>
            <a:br>
              <a:rPr lang="nl-BE" sz="2800">
                <a:solidFill>
                  <a:srgbClr val="2F5496"/>
                </a:solidFill>
              </a:rPr>
            </a:br>
            <a:br>
              <a:rPr lang="nl-BE" sz="2800">
                <a:solidFill>
                  <a:srgbClr val="2F5496"/>
                </a:solidFill>
              </a:rPr>
            </a:br>
            <a:br>
              <a:rPr lang="nl-BE" sz="2800">
                <a:solidFill>
                  <a:srgbClr val="2F5496"/>
                </a:solidFill>
              </a:rPr>
            </a:br>
            <a:r>
              <a:rPr lang="nl-BE" sz="2800">
                <a:solidFill>
                  <a:srgbClr val="2F5496"/>
                </a:solidFill>
              </a:rPr>
              <a:t>   </a:t>
            </a:r>
            <a:br>
              <a:rPr lang="nl-BE" sz="2800">
                <a:solidFill>
                  <a:srgbClr val="2F5496"/>
                </a:solidFill>
              </a:rPr>
            </a:br>
            <a:br>
              <a:rPr lang="nl-BE" sz="2800">
                <a:solidFill>
                  <a:srgbClr val="2F5496"/>
                </a:solidFill>
              </a:rPr>
            </a:br>
            <a:r>
              <a:rPr lang="nl-BE" sz="2800">
                <a:solidFill>
                  <a:srgbClr val="2F5496"/>
                </a:solidFill>
              </a:rPr>
              <a:t>Toen ik een klein meisje  </a:t>
            </a:r>
            <a:r>
              <a:rPr lang="nl-BE" sz="2800" b="1" i="1">
                <a:solidFill>
                  <a:srgbClr val="2F5496"/>
                </a:solidFill>
              </a:rPr>
              <a:t>was</a:t>
            </a:r>
            <a:r>
              <a:rPr lang="nl-BE" sz="2800">
                <a:solidFill>
                  <a:srgbClr val="2F5496"/>
                </a:solidFill>
              </a:rPr>
              <a:t>, </a:t>
            </a:r>
            <a:r>
              <a:rPr lang="nl-BE" sz="2800">
                <a:solidFill>
                  <a:srgbClr val="FF0000"/>
                </a:solidFill>
              </a:rPr>
              <a:t>at ik </a:t>
            </a:r>
            <a:r>
              <a:rPr lang="nl-BE" sz="2800">
                <a:solidFill>
                  <a:srgbClr val="2F5496"/>
                </a:solidFill>
              </a:rPr>
              <a:t>graag chocolade.</a:t>
            </a:r>
            <a:br>
              <a:rPr lang="nl-BE">
                <a:solidFill>
                  <a:srgbClr val="2F5496"/>
                </a:solidFill>
              </a:rPr>
            </a:br>
            <a:endParaRPr sz="2800">
              <a:solidFill>
                <a:srgbClr val="2F5496"/>
              </a:solidFill>
            </a:endParaRPr>
          </a:p>
        </p:txBody>
      </p:sp>
      <p:sp>
        <p:nvSpPr>
          <p:cNvPr id="110" name="Google Shape;110;p5"/>
          <p:cNvSpPr/>
          <p:nvPr/>
        </p:nvSpPr>
        <p:spPr>
          <a:xfrm>
            <a:off x="4183380" y="3863340"/>
            <a:ext cx="3440430" cy="537210"/>
          </a:xfrm>
          <a:prstGeom prst="curvedUpArrow">
            <a:avLst>
              <a:gd name="adj1" fmla="val 25000"/>
              <a:gd name="adj2" fmla="val 50000"/>
              <a:gd name="adj3" fmla="val 25000"/>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11" name="Google Shape;111;p5"/>
          <p:cNvPicPr preferRelativeResize="0"/>
          <p:nvPr/>
        </p:nvPicPr>
        <p:blipFill rotWithShape="1">
          <a:blip r:embed="rId3">
            <a:alphaModFix/>
          </a:blip>
          <a:srcRect/>
          <a:stretch/>
        </p:blipFill>
        <p:spPr>
          <a:xfrm>
            <a:off x="4778375" y="4538345"/>
            <a:ext cx="806450" cy="501650"/>
          </a:xfrm>
          <a:prstGeom prst="rect">
            <a:avLst/>
          </a:prstGeom>
          <a:noFill/>
          <a:ln>
            <a:noFill/>
          </a:ln>
        </p:spPr>
      </p:pic>
      <p:sp>
        <p:nvSpPr>
          <p:cNvPr id="112" name="Google Shape;112;p5"/>
          <p:cNvSpPr/>
          <p:nvPr/>
        </p:nvSpPr>
        <p:spPr>
          <a:xfrm>
            <a:off x="4965700" y="5806450"/>
            <a:ext cx="806400" cy="228600"/>
          </a:xfrm>
          <a:prstGeom prst="leftRightArrow">
            <a:avLst>
              <a:gd name="adj1" fmla="val 50000"/>
              <a:gd name="adj2" fmla="val 50000"/>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3" name="Google Shape;113;p5"/>
          <p:cNvSpPr/>
          <p:nvPr/>
        </p:nvSpPr>
        <p:spPr>
          <a:xfrm>
            <a:off x="5948552" y="5629805"/>
            <a:ext cx="2404800" cy="765900"/>
          </a:xfrm>
          <a:prstGeom prst="ellipse">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nl-BE" sz="2800" b="0" i="0" u="none" strike="noStrike" cap="none">
                <a:solidFill>
                  <a:schemeClr val="lt1"/>
                </a:solidFill>
                <a:latin typeface="Calibri"/>
                <a:ea typeface="Calibri"/>
                <a:cs typeface="Calibri"/>
                <a:sym typeface="Calibri"/>
              </a:rPr>
              <a:t>inversie</a:t>
            </a:r>
            <a:endParaRPr sz="1400" b="0" i="0" u="none" strike="noStrike" cap="none">
              <a:solidFill>
                <a:srgbClr val="000000"/>
              </a:solidFill>
              <a:latin typeface="Arial"/>
              <a:ea typeface="Arial"/>
              <a:cs typeface="Arial"/>
              <a:sym typeface="Arial"/>
            </a:endParaRPr>
          </a:p>
        </p:txBody>
      </p:sp>
      <p:sp>
        <p:nvSpPr>
          <p:cNvPr id="114" name="Google Shape;114;p5"/>
          <p:cNvSpPr/>
          <p:nvPr/>
        </p:nvSpPr>
        <p:spPr>
          <a:xfrm>
            <a:off x="586740" y="4640581"/>
            <a:ext cx="4396740" cy="1794510"/>
          </a:xfrm>
          <a:prstGeom prst="ellipse">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5" name="Google Shape;115;p5"/>
          <p:cNvSpPr/>
          <p:nvPr/>
        </p:nvSpPr>
        <p:spPr>
          <a:xfrm>
            <a:off x="1508760" y="5806440"/>
            <a:ext cx="2571750" cy="868682"/>
          </a:xfrm>
          <a:prstGeom prst="ellipse">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nl-BE" sz="3600" b="0" i="0" u="none" strike="noStrike" cap="none">
                <a:solidFill>
                  <a:schemeClr val="accent1"/>
                </a:solidFill>
                <a:latin typeface="Calibri"/>
                <a:ea typeface="Calibri"/>
                <a:cs typeface="Calibri"/>
                <a:sym typeface="Calibri"/>
              </a:rPr>
              <a:t>Extra</a:t>
            </a:r>
            <a:endParaRPr sz="3600" b="0" i="0" u="none" strike="noStrike" cap="none">
              <a:solidFill>
                <a:schemeClr val="lt1"/>
              </a:solidFill>
              <a:latin typeface="Calibri"/>
              <a:ea typeface="Calibri"/>
              <a:cs typeface="Calibri"/>
              <a:sym typeface="Calibri"/>
            </a:endParaRPr>
          </a:p>
        </p:txBody>
      </p:sp>
      <p:pic>
        <p:nvPicPr>
          <p:cNvPr id="116" name="Google Shape;116;p5"/>
          <p:cNvPicPr preferRelativeResize="0"/>
          <p:nvPr/>
        </p:nvPicPr>
        <p:blipFill rotWithShape="1">
          <a:blip r:embed="rId4">
            <a:alphaModFix/>
          </a:blip>
          <a:srcRect/>
          <a:stretch/>
        </p:blipFill>
        <p:spPr>
          <a:xfrm>
            <a:off x="11488738" y="6154738"/>
            <a:ext cx="487362" cy="48736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6"/>
          <p:cNvSpPr txBox="1">
            <a:spLocks noGrp="1"/>
          </p:cNvSpPr>
          <p:nvPr>
            <p:ph type="title"/>
          </p:nvPr>
        </p:nvSpPr>
        <p:spPr>
          <a:xfrm>
            <a:off x="922020" y="0"/>
            <a:ext cx="10347960" cy="209005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alibri"/>
              <a:buNone/>
            </a:pPr>
            <a:r>
              <a:rPr lang="nl-BE">
                <a:solidFill>
                  <a:schemeClr val="accent1"/>
                </a:solidFill>
              </a:rPr>
              <a:t>Anna was een klein meisje. Ze at graag ijsjes.</a:t>
            </a:r>
            <a:endParaRPr/>
          </a:p>
        </p:txBody>
      </p:sp>
      <p:pic>
        <p:nvPicPr>
          <p:cNvPr id="122" name="Google Shape;122;p6"/>
          <p:cNvPicPr preferRelativeResize="0"/>
          <p:nvPr/>
        </p:nvPicPr>
        <p:blipFill rotWithShape="1">
          <a:blip r:embed="rId3">
            <a:alphaModFix/>
          </a:blip>
          <a:srcRect/>
          <a:stretch/>
        </p:blipFill>
        <p:spPr>
          <a:xfrm>
            <a:off x="11488738" y="6154738"/>
            <a:ext cx="487362" cy="487362"/>
          </a:xfrm>
          <a:prstGeom prst="rect">
            <a:avLst/>
          </a:prstGeom>
          <a:noFill/>
          <a:ln>
            <a:noFill/>
          </a:ln>
        </p:spPr>
      </p:pic>
      <p:pic>
        <p:nvPicPr>
          <p:cNvPr id="123" name="Google Shape;123;p6" descr="lachend zwart kind met ijs in wafelkegel op zomerdag - girl Eating Ice Cream stockfoto's en -beelden"/>
          <p:cNvPicPr preferRelativeResize="0"/>
          <p:nvPr/>
        </p:nvPicPr>
        <p:blipFill rotWithShape="1">
          <a:blip r:embed="rId4">
            <a:alphaModFix/>
          </a:blip>
          <a:srcRect/>
          <a:stretch/>
        </p:blipFill>
        <p:spPr>
          <a:xfrm>
            <a:off x="2043545" y="1460500"/>
            <a:ext cx="7772400" cy="5181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7"/>
          <p:cNvSpPr txBox="1">
            <a:spLocks noGrp="1"/>
          </p:cNvSpPr>
          <p:nvPr>
            <p:ph type="title"/>
          </p:nvPr>
        </p:nvSpPr>
        <p:spPr>
          <a:xfrm>
            <a:off x="377190" y="0"/>
            <a:ext cx="12001501" cy="55092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000"/>
              <a:buFont typeface="Calibri"/>
              <a:buNone/>
            </a:pPr>
            <a:r>
              <a:rPr lang="nl-BE" sz="4000">
                <a:solidFill>
                  <a:schemeClr val="accent1"/>
                </a:solidFill>
              </a:rPr>
              <a:t>  </a:t>
            </a:r>
            <a:r>
              <a:rPr lang="nl-BE" sz="4000" b="1">
                <a:solidFill>
                  <a:schemeClr val="accent1"/>
                </a:solidFill>
              </a:rPr>
              <a:t>Anna was </a:t>
            </a:r>
            <a:r>
              <a:rPr lang="nl-BE" sz="4000">
                <a:solidFill>
                  <a:schemeClr val="accent1"/>
                </a:solidFill>
              </a:rPr>
              <a:t>een klein meisje. </a:t>
            </a:r>
            <a:r>
              <a:rPr lang="nl-BE" sz="4000" b="1">
                <a:solidFill>
                  <a:schemeClr val="accent1"/>
                </a:solidFill>
              </a:rPr>
              <a:t>Ze at </a:t>
            </a:r>
            <a:r>
              <a:rPr lang="nl-BE" sz="4000">
                <a:solidFill>
                  <a:schemeClr val="accent1"/>
                </a:solidFill>
              </a:rPr>
              <a:t>graag ijsjes.</a:t>
            </a:r>
            <a:br>
              <a:rPr lang="nl-BE">
                <a:solidFill>
                  <a:schemeClr val="accent1"/>
                </a:solidFill>
              </a:rPr>
            </a:br>
            <a:br>
              <a:rPr lang="nl-BE">
                <a:solidFill>
                  <a:schemeClr val="accent1"/>
                </a:solidFill>
              </a:rPr>
            </a:br>
            <a:r>
              <a:rPr lang="nl-BE">
                <a:solidFill>
                  <a:schemeClr val="accent1"/>
                </a:solidFill>
              </a:rPr>
              <a:t>	    </a:t>
            </a:r>
            <a:r>
              <a:rPr lang="nl-BE" sz="4000" b="1">
                <a:solidFill>
                  <a:schemeClr val="accent1"/>
                </a:solidFill>
              </a:rPr>
              <a:t>Ze at </a:t>
            </a:r>
            <a:r>
              <a:rPr lang="nl-BE" sz="4000">
                <a:solidFill>
                  <a:schemeClr val="accent1"/>
                </a:solidFill>
              </a:rPr>
              <a:t>graag ijsjes, </a:t>
            </a:r>
            <a:r>
              <a:rPr lang="nl-BE" sz="4000" b="1" u="sng">
                <a:solidFill>
                  <a:schemeClr val="accent1"/>
                </a:solidFill>
              </a:rPr>
              <a:t>toen</a:t>
            </a:r>
            <a:r>
              <a:rPr lang="nl-BE" sz="4000" u="sng">
                <a:solidFill>
                  <a:schemeClr val="accent1"/>
                </a:solidFill>
              </a:rPr>
              <a:t> </a:t>
            </a:r>
            <a:r>
              <a:rPr lang="nl-BE" sz="4000">
                <a:solidFill>
                  <a:schemeClr val="accent1"/>
                </a:solidFill>
              </a:rPr>
              <a:t>ze een klein meisje </a:t>
            </a:r>
            <a:r>
              <a:rPr lang="nl-BE" sz="4000">
                <a:solidFill>
                  <a:srgbClr val="FF0000"/>
                </a:solidFill>
              </a:rPr>
              <a:t>was</a:t>
            </a:r>
            <a:r>
              <a:rPr lang="nl-BE" sz="4000">
                <a:solidFill>
                  <a:schemeClr val="accent1"/>
                </a:solidFill>
              </a:rPr>
              <a:t>.</a:t>
            </a:r>
            <a:br>
              <a:rPr lang="nl-BE" sz="4000">
                <a:solidFill>
                  <a:schemeClr val="accent1"/>
                </a:solidFill>
              </a:rPr>
            </a:br>
            <a:br>
              <a:rPr lang="nl-BE" sz="4000">
                <a:solidFill>
                  <a:schemeClr val="accent1"/>
                </a:solidFill>
              </a:rPr>
            </a:br>
            <a:br>
              <a:rPr lang="nl-BE" sz="4000">
                <a:solidFill>
                  <a:schemeClr val="accent1"/>
                </a:solidFill>
              </a:rPr>
            </a:br>
            <a:endParaRPr sz="4000" b="1" i="1">
              <a:solidFill>
                <a:schemeClr val="accent1"/>
              </a:solidFill>
            </a:endParaRPr>
          </a:p>
        </p:txBody>
      </p:sp>
      <p:sp>
        <p:nvSpPr>
          <p:cNvPr id="129" name="Google Shape;129;p7"/>
          <p:cNvSpPr/>
          <p:nvPr/>
        </p:nvSpPr>
        <p:spPr>
          <a:xfrm>
            <a:off x="720090" y="2263139"/>
            <a:ext cx="617220" cy="605789"/>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0" name="Google Shape;130;p7"/>
          <p:cNvPicPr preferRelativeResize="0"/>
          <p:nvPr/>
        </p:nvPicPr>
        <p:blipFill rotWithShape="1">
          <a:blip r:embed="rId3">
            <a:alphaModFix/>
          </a:blip>
          <a:srcRect/>
          <a:stretch/>
        </p:blipFill>
        <p:spPr>
          <a:xfrm>
            <a:off x="7988485" y="3685575"/>
            <a:ext cx="806450" cy="501650"/>
          </a:xfrm>
          <a:prstGeom prst="rect">
            <a:avLst/>
          </a:prstGeom>
          <a:noFill/>
          <a:ln>
            <a:noFill/>
          </a:ln>
        </p:spPr>
      </p:pic>
      <p:sp>
        <p:nvSpPr>
          <p:cNvPr id="131" name="Google Shape;131;p7"/>
          <p:cNvSpPr/>
          <p:nvPr/>
        </p:nvSpPr>
        <p:spPr>
          <a:xfrm>
            <a:off x="5724590" y="2817600"/>
            <a:ext cx="5040600" cy="800100"/>
          </a:xfrm>
          <a:prstGeom prst="curvedUpArrow">
            <a:avLst>
              <a:gd name="adj1" fmla="val 25000"/>
              <a:gd name="adj2" fmla="val 50000"/>
              <a:gd name="adj3" fmla="val 25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2" name="Google Shape;132;p7"/>
          <p:cNvPicPr preferRelativeResize="0"/>
          <p:nvPr/>
        </p:nvPicPr>
        <p:blipFill rotWithShape="1">
          <a:blip r:embed="rId4">
            <a:alphaModFix/>
          </a:blip>
          <a:srcRect/>
          <a:stretch/>
        </p:blipFill>
        <p:spPr>
          <a:xfrm>
            <a:off x="11488738" y="6154738"/>
            <a:ext cx="487362" cy="48736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8"/>
          <p:cNvSpPr txBox="1">
            <a:spLocks noGrp="1"/>
          </p:cNvSpPr>
          <p:nvPr>
            <p:ph type="title"/>
          </p:nvPr>
        </p:nvSpPr>
        <p:spPr>
          <a:xfrm>
            <a:off x="377190" y="0"/>
            <a:ext cx="12001501" cy="55092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000"/>
              <a:buFont typeface="Calibri"/>
              <a:buNone/>
            </a:pPr>
            <a:r>
              <a:rPr lang="nl-BE" sz="4000">
                <a:solidFill>
                  <a:schemeClr val="accent1"/>
                </a:solidFill>
              </a:rPr>
              <a:t>  </a:t>
            </a:r>
            <a:r>
              <a:rPr lang="nl-BE" sz="4000" b="1">
                <a:solidFill>
                  <a:schemeClr val="accent1"/>
                </a:solidFill>
              </a:rPr>
              <a:t>Anna was </a:t>
            </a:r>
            <a:r>
              <a:rPr lang="nl-BE" sz="4000">
                <a:solidFill>
                  <a:schemeClr val="accent1"/>
                </a:solidFill>
              </a:rPr>
              <a:t>een klein meisje. </a:t>
            </a:r>
            <a:r>
              <a:rPr lang="nl-BE" sz="4000" b="1">
                <a:solidFill>
                  <a:schemeClr val="accent1"/>
                </a:solidFill>
              </a:rPr>
              <a:t>Ze at </a:t>
            </a:r>
            <a:r>
              <a:rPr lang="nl-BE" sz="4000">
                <a:solidFill>
                  <a:schemeClr val="accent1"/>
                </a:solidFill>
              </a:rPr>
              <a:t>graag ijsjes.</a:t>
            </a:r>
            <a:br>
              <a:rPr lang="nl-BE">
                <a:solidFill>
                  <a:schemeClr val="accent1"/>
                </a:solidFill>
              </a:rPr>
            </a:br>
            <a:br>
              <a:rPr lang="nl-BE">
                <a:solidFill>
                  <a:schemeClr val="accent1"/>
                </a:solidFill>
              </a:rPr>
            </a:br>
            <a:r>
              <a:rPr lang="nl-BE">
                <a:solidFill>
                  <a:schemeClr val="accent1"/>
                </a:solidFill>
              </a:rPr>
              <a:t>	    </a:t>
            </a:r>
            <a:r>
              <a:rPr lang="nl-BE" sz="4000">
                <a:solidFill>
                  <a:schemeClr val="accent1"/>
                </a:solidFill>
              </a:rPr>
              <a:t>Ze at graag ijsjes, </a:t>
            </a:r>
            <a:r>
              <a:rPr lang="nl-BE" sz="4000" b="1" i="1" u="sng">
                <a:solidFill>
                  <a:schemeClr val="accent1"/>
                </a:solidFill>
              </a:rPr>
              <a:t>toen</a:t>
            </a:r>
            <a:r>
              <a:rPr lang="nl-BE" sz="4000">
                <a:solidFill>
                  <a:schemeClr val="accent1"/>
                </a:solidFill>
              </a:rPr>
              <a:t> ze een klein meisje </a:t>
            </a:r>
            <a:r>
              <a:rPr lang="nl-BE" sz="4000">
                <a:solidFill>
                  <a:srgbClr val="FF0000"/>
                </a:solidFill>
              </a:rPr>
              <a:t>was</a:t>
            </a:r>
            <a:r>
              <a:rPr lang="nl-BE" sz="4000">
                <a:solidFill>
                  <a:schemeClr val="accent1"/>
                </a:solidFill>
              </a:rPr>
              <a:t>.</a:t>
            </a:r>
            <a:br>
              <a:rPr lang="nl-BE" sz="4000">
                <a:solidFill>
                  <a:schemeClr val="accent1"/>
                </a:solidFill>
              </a:rPr>
            </a:br>
            <a:br>
              <a:rPr lang="nl-BE" sz="4000">
                <a:solidFill>
                  <a:schemeClr val="accent1"/>
                </a:solidFill>
              </a:rPr>
            </a:br>
            <a:br>
              <a:rPr lang="nl-BE" sz="4000">
                <a:solidFill>
                  <a:schemeClr val="accent1"/>
                </a:solidFill>
              </a:rPr>
            </a:br>
            <a:r>
              <a:rPr lang="nl-BE">
                <a:solidFill>
                  <a:schemeClr val="accent1"/>
                </a:solidFill>
              </a:rPr>
              <a:t>	    </a:t>
            </a:r>
            <a:r>
              <a:rPr lang="nl-BE" sz="4000" b="1" u="sng">
                <a:solidFill>
                  <a:schemeClr val="accent1"/>
                </a:solidFill>
              </a:rPr>
              <a:t>Toen</a:t>
            </a:r>
            <a:r>
              <a:rPr lang="nl-BE" sz="4000">
                <a:solidFill>
                  <a:schemeClr val="accent1"/>
                </a:solidFill>
              </a:rPr>
              <a:t> Anna een klein meisje </a:t>
            </a:r>
            <a:r>
              <a:rPr lang="nl-BE" sz="4000" b="1" i="1">
                <a:solidFill>
                  <a:srgbClr val="FF0000"/>
                </a:solidFill>
              </a:rPr>
              <a:t>was, at ze </a:t>
            </a:r>
            <a:r>
              <a:rPr lang="nl-BE" sz="4000" b="1" i="1">
                <a:solidFill>
                  <a:schemeClr val="accent1"/>
                </a:solidFill>
              </a:rPr>
              <a:t>graag ijsjes</a:t>
            </a:r>
            <a:br>
              <a:rPr lang="nl-BE" sz="4000" b="1" i="1">
                <a:solidFill>
                  <a:srgbClr val="FF0000"/>
                </a:solidFill>
              </a:rPr>
            </a:br>
            <a:endParaRPr sz="4000" b="1" i="1">
              <a:solidFill>
                <a:schemeClr val="accent1"/>
              </a:solidFill>
            </a:endParaRPr>
          </a:p>
        </p:txBody>
      </p:sp>
      <p:sp>
        <p:nvSpPr>
          <p:cNvPr id="138" name="Google Shape;138;p8"/>
          <p:cNvSpPr/>
          <p:nvPr/>
        </p:nvSpPr>
        <p:spPr>
          <a:xfrm>
            <a:off x="720090" y="3532187"/>
            <a:ext cx="617220" cy="605790"/>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9" name="Google Shape;139;p8"/>
          <p:cNvSpPr/>
          <p:nvPr/>
        </p:nvSpPr>
        <p:spPr>
          <a:xfrm>
            <a:off x="720090" y="1863089"/>
            <a:ext cx="617220" cy="605789"/>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40" name="Google Shape;140;p8"/>
          <p:cNvPicPr preferRelativeResize="0"/>
          <p:nvPr/>
        </p:nvPicPr>
        <p:blipFill rotWithShape="1">
          <a:blip r:embed="rId3">
            <a:alphaModFix/>
          </a:blip>
          <a:srcRect/>
          <a:stretch/>
        </p:blipFill>
        <p:spPr>
          <a:xfrm>
            <a:off x="7833155" y="2738725"/>
            <a:ext cx="806450" cy="501650"/>
          </a:xfrm>
          <a:prstGeom prst="rect">
            <a:avLst/>
          </a:prstGeom>
          <a:noFill/>
          <a:ln>
            <a:noFill/>
          </a:ln>
        </p:spPr>
      </p:pic>
      <p:sp>
        <p:nvSpPr>
          <p:cNvPr id="141" name="Google Shape;141;p8"/>
          <p:cNvSpPr/>
          <p:nvPr/>
        </p:nvSpPr>
        <p:spPr>
          <a:xfrm>
            <a:off x="5626200" y="2548820"/>
            <a:ext cx="5040600" cy="800100"/>
          </a:xfrm>
          <a:prstGeom prst="curvedUpArrow">
            <a:avLst>
              <a:gd name="adj1" fmla="val 25000"/>
              <a:gd name="adj2" fmla="val 50000"/>
              <a:gd name="adj3" fmla="val 25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2" name="Google Shape;142;p8"/>
          <p:cNvSpPr/>
          <p:nvPr/>
        </p:nvSpPr>
        <p:spPr>
          <a:xfrm>
            <a:off x="1485900" y="3131820"/>
            <a:ext cx="6537960" cy="1794510"/>
          </a:xfrm>
          <a:prstGeom prst="ellipse">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43" name="Google Shape;143;p8"/>
          <p:cNvPicPr preferRelativeResize="0"/>
          <p:nvPr/>
        </p:nvPicPr>
        <p:blipFill rotWithShape="1">
          <a:blip r:embed="rId4">
            <a:alphaModFix/>
          </a:blip>
          <a:srcRect/>
          <a:stretch/>
        </p:blipFill>
        <p:spPr>
          <a:xfrm>
            <a:off x="11488738" y="6154738"/>
            <a:ext cx="487362" cy="48736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9"/>
          <p:cNvSpPr txBox="1">
            <a:spLocks noGrp="1"/>
          </p:cNvSpPr>
          <p:nvPr>
            <p:ph type="title"/>
          </p:nvPr>
        </p:nvSpPr>
        <p:spPr>
          <a:xfrm>
            <a:off x="377190" y="0"/>
            <a:ext cx="12001501" cy="55092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000"/>
              <a:buFont typeface="Calibri"/>
              <a:buNone/>
            </a:pPr>
            <a:r>
              <a:rPr lang="nl-BE" sz="4000">
                <a:solidFill>
                  <a:schemeClr val="accent1"/>
                </a:solidFill>
              </a:rPr>
              <a:t>  </a:t>
            </a:r>
            <a:r>
              <a:rPr lang="nl-BE" sz="4000" b="1">
                <a:solidFill>
                  <a:schemeClr val="accent1"/>
                </a:solidFill>
              </a:rPr>
              <a:t>Anna was </a:t>
            </a:r>
            <a:r>
              <a:rPr lang="nl-BE" sz="4000">
                <a:solidFill>
                  <a:schemeClr val="accent1"/>
                </a:solidFill>
              </a:rPr>
              <a:t>een klein meisje. </a:t>
            </a:r>
            <a:r>
              <a:rPr lang="nl-BE" sz="4000" b="1">
                <a:solidFill>
                  <a:schemeClr val="accent1"/>
                </a:solidFill>
              </a:rPr>
              <a:t>Ze at </a:t>
            </a:r>
            <a:r>
              <a:rPr lang="nl-BE" sz="4000">
                <a:solidFill>
                  <a:schemeClr val="accent1"/>
                </a:solidFill>
              </a:rPr>
              <a:t>graag ijsjes.</a:t>
            </a:r>
            <a:br>
              <a:rPr lang="nl-BE">
                <a:solidFill>
                  <a:schemeClr val="accent1"/>
                </a:solidFill>
              </a:rPr>
            </a:br>
            <a:br>
              <a:rPr lang="nl-BE">
                <a:solidFill>
                  <a:schemeClr val="accent1"/>
                </a:solidFill>
              </a:rPr>
            </a:br>
            <a:r>
              <a:rPr lang="nl-BE">
                <a:solidFill>
                  <a:schemeClr val="accent1"/>
                </a:solidFill>
              </a:rPr>
              <a:t>	    </a:t>
            </a:r>
            <a:r>
              <a:rPr lang="nl-BE" sz="4000">
                <a:solidFill>
                  <a:schemeClr val="accent1"/>
                </a:solidFill>
              </a:rPr>
              <a:t>Ze at graag ijsjes, </a:t>
            </a:r>
            <a:r>
              <a:rPr lang="nl-BE" sz="4000" b="1" u="sng">
                <a:solidFill>
                  <a:schemeClr val="accent1"/>
                </a:solidFill>
              </a:rPr>
              <a:t>toen</a:t>
            </a:r>
            <a:r>
              <a:rPr lang="nl-BE" sz="4000">
                <a:solidFill>
                  <a:schemeClr val="accent1"/>
                </a:solidFill>
              </a:rPr>
              <a:t> ze een klein meisje </a:t>
            </a:r>
            <a:r>
              <a:rPr lang="nl-BE" sz="4000">
                <a:solidFill>
                  <a:srgbClr val="FF0000"/>
                </a:solidFill>
              </a:rPr>
              <a:t>was</a:t>
            </a:r>
            <a:r>
              <a:rPr lang="nl-BE" sz="4000">
                <a:solidFill>
                  <a:schemeClr val="accent1"/>
                </a:solidFill>
              </a:rPr>
              <a:t>.</a:t>
            </a:r>
            <a:br>
              <a:rPr lang="nl-BE" sz="4000">
                <a:solidFill>
                  <a:schemeClr val="accent1"/>
                </a:solidFill>
              </a:rPr>
            </a:br>
            <a:br>
              <a:rPr lang="nl-BE" sz="4000">
                <a:solidFill>
                  <a:schemeClr val="accent1"/>
                </a:solidFill>
              </a:rPr>
            </a:br>
            <a:br>
              <a:rPr lang="nl-BE" sz="4000">
                <a:solidFill>
                  <a:schemeClr val="accent1"/>
                </a:solidFill>
              </a:rPr>
            </a:br>
            <a:r>
              <a:rPr lang="nl-BE">
                <a:solidFill>
                  <a:schemeClr val="accent1"/>
                </a:solidFill>
              </a:rPr>
              <a:t>	</a:t>
            </a:r>
            <a:r>
              <a:rPr lang="nl-BE" b="1">
                <a:solidFill>
                  <a:schemeClr val="accent1"/>
                </a:solidFill>
              </a:rPr>
              <a:t>    </a:t>
            </a:r>
            <a:r>
              <a:rPr lang="nl-BE" sz="4000" b="1" u="sng">
                <a:solidFill>
                  <a:schemeClr val="accent1"/>
                </a:solidFill>
              </a:rPr>
              <a:t>Toen </a:t>
            </a:r>
            <a:r>
              <a:rPr lang="nl-BE" sz="4000">
                <a:solidFill>
                  <a:schemeClr val="accent1"/>
                </a:solidFill>
              </a:rPr>
              <a:t>Anna een klein meisje </a:t>
            </a:r>
            <a:r>
              <a:rPr lang="nl-BE" sz="4000" b="1" i="1">
                <a:solidFill>
                  <a:srgbClr val="FF0000"/>
                </a:solidFill>
              </a:rPr>
              <a:t>was, at ze </a:t>
            </a:r>
            <a:r>
              <a:rPr lang="nl-BE" sz="4000" b="1" i="1">
                <a:solidFill>
                  <a:schemeClr val="accent1"/>
                </a:solidFill>
              </a:rPr>
              <a:t>graag ijsjes.</a:t>
            </a:r>
            <a:br>
              <a:rPr lang="nl-BE" sz="4000" b="1" i="1">
                <a:solidFill>
                  <a:srgbClr val="FF0000"/>
                </a:solidFill>
              </a:rPr>
            </a:br>
            <a:endParaRPr sz="4000" b="1" i="1">
              <a:solidFill>
                <a:schemeClr val="accent1"/>
              </a:solidFill>
            </a:endParaRPr>
          </a:p>
        </p:txBody>
      </p:sp>
      <p:sp>
        <p:nvSpPr>
          <p:cNvPr id="149" name="Google Shape;149;p9"/>
          <p:cNvSpPr/>
          <p:nvPr/>
        </p:nvSpPr>
        <p:spPr>
          <a:xfrm>
            <a:off x="720090" y="3532187"/>
            <a:ext cx="617220" cy="605790"/>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0" name="Google Shape;150;p9"/>
          <p:cNvSpPr/>
          <p:nvPr/>
        </p:nvSpPr>
        <p:spPr>
          <a:xfrm>
            <a:off x="720090" y="1863089"/>
            <a:ext cx="617220" cy="605789"/>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51" name="Google Shape;151;p9"/>
          <p:cNvPicPr preferRelativeResize="0"/>
          <p:nvPr/>
        </p:nvPicPr>
        <p:blipFill rotWithShape="1">
          <a:blip r:embed="rId3">
            <a:alphaModFix/>
          </a:blip>
          <a:srcRect/>
          <a:stretch/>
        </p:blipFill>
        <p:spPr>
          <a:xfrm>
            <a:off x="8227830" y="2670800"/>
            <a:ext cx="806450" cy="501650"/>
          </a:xfrm>
          <a:prstGeom prst="rect">
            <a:avLst/>
          </a:prstGeom>
          <a:noFill/>
          <a:ln>
            <a:noFill/>
          </a:ln>
        </p:spPr>
      </p:pic>
      <p:sp>
        <p:nvSpPr>
          <p:cNvPr id="152" name="Google Shape;152;p9"/>
          <p:cNvSpPr/>
          <p:nvPr/>
        </p:nvSpPr>
        <p:spPr>
          <a:xfrm>
            <a:off x="5774200" y="2468870"/>
            <a:ext cx="5040600" cy="800100"/>
          </a:xfrm>
          <a:prstGeom prst="curvedUpArrow">
            <a:avLst>
              <a:gd name="adj1" fmla="val 25000"/>
              <a:gd name="adj2" fmla="val 50000"/>
              <a:gd name="adj3" fmla="val 25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3" name="Google Shape;153;p9"/>
          <p:cNvSpPr/>
          <p:nvPr/>
        </p:nvSpPr>
        <p:spPr>
          <a:xfrm>
            <a:off x="1513588" y="3131820"/>
            <a:ext cx="6537900" cy="1794600"/>
          </a:xfrm>
          <a:prstGeom prst="ellipse">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4" name="Google Shape;154;p9"/>
          <p:cNvSpPr/>
          <p:nvPr/>
        </p:nvSpPr>
        <p:spPr>
          <a:xfrm>
            <a:off x="8023860" y="4291965"/>
            <a:ext cx="1456055" cy="354330"/>
          </a:xfrm>
          <a:prstGeom prst="leftRightArrow">
            <a:avLst>
              <a:gd name="adj1" fmla="val 50000"/>
              <a:gd name="adj2" fmla="val 50000"/>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55" name="Google Shape;155;p9"/>
          <p:cNvPicPr preferRelativeResize="0"/>
          <p:nvPr/>
        </p:nvPicPr>
        <p:blipFill rotWithShape="1">
          <a:blip r:embed="rId4">
            <a:alphaModFix/>
          </a:blip>
          <a:srcRect/>
          <a:stretch/>
        </p:blipFill>
        <p:spPr>
          <a:xfrm>
            <a:off x="11488738" y="6154738"/>
            <a:ext cx="487362" cy="48736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0"/>
          <p:cNvSpPr txBox="1">
            <a:spLocks noGrp="1"/>
          </p:cNvSpPr>
          <p:nvPr>
            <p:ph type="title"/>
          </p:nvPr>
        </p:nvSpPr>
        <p:spPr>
          <a:xfrm>
            <a:off x="125730" y="365125"/>
            <a:ext cx="11967210" cy="26426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accent1"/>
              </a:buClr>
              <a:buSzPct val="111111"/>
              <a:buFont typeface="Calibri"/>
              <a:buNone/>
            </a:pPr>
            <a:br>
              <a:rPr lang="nl-BE" sz="3959">
                <a:solidFill>
                  <a:schemeClr val="accent1"/>
                </a:solidFill>
              </a:rPr>
            </a:br>
            <a:br>
              <a:rPr lang="nl-BE" sz="3959">
                <a:solidFill>
                  <a:schemeClr val="accent1"/>
                </a:solidFill>
              </a:rPr>
            </a:br>
            <a:r>
              <a:rPr lang="nl-BE" sz="3959">
                <a:solidFill>
                  <a:schemeClr val="accent1"/>
                </a:solidFill>
              </a:rPr>
              <a:t>   John was jong. Hij speelde graag met lego</a:t>
            </a:r>
            <a:r>
              <a:rPr lang="nl-BE" sz="3959"/>
              <a:t>.</a:t>
            </a:r>
            <a:br>
              <a:rPr lang="nl-BE" sz="3959"/>
            </a:br>
            <a:endParaRPr/>
          </a:p>
        </p:txBody>
      </p:sp>
      <p:pic>
        <p:nvPicPr>
          <p:cNvPr id="161" name="Google Shape;161;p10"/>
          <p:cNvPicPr preferRelativeResize="0"/>
          <p:nvPr/>
        </p:nvPicPr>
        <p:blipFill rotWithShape="1">
          <a:blip r:embed="rId3">
            <a:alphaModFix/>
          </a:blip>
          <a:srcRect/>
          <a:stretch/>
        </p:blipFill>
        <p:spPr>
          <a:xfrm>
            <a:off x="11488738" y="6154738"/>
            <a:ext cx="487362" cy="487362"/>
          </a:xfrm>
          <a:prstGeom prst="rect">
            <a:avLst/>
          </a:prstGeom>
          <a:noFill/>
          <a:ln>
            <a:noFill/>
          </a:ln>
        </p:spPr>
      </p:pic>
      <p:pic>
        <p:nvPicPr>
          <p:cNvPr id="162" name="Google Shape;162;p10" descr="How Playing with LEGOS help kids learn | Hampton, NH Patch"/>
          <p:cNvPicPr preferRelativeResize="0"/>
          <p:nvPr/>
        </p:nvPicPr>
        <p:blipFill rotWithShape="1">
          <a:blip r:embed="rId4">
            <a:alphaModFix/>
          </a:blip>
          <a:srcRect/>
          <a:stretch/>
        </p:blipFill>
        <p:spPr>
          <a:xfrm>
            <a:off x="676894" y="1356054"/>
            <a:ext cx="9274629" cy="521697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1"/>
          <p:cNvSpPr txBox="1">
            <a:spLocks noGrp="1"/>
          </p:cNvSpPr>
          <p:nvPr>
            <p:ph type="title"/>
          </p:nvPr>
        </p:nvSpPr>
        <p:spPr>
          <a:xfrm>
            <a:off x="125730" y="365125"/>
            <a:ext cx="11967210" cy="526986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alibri"/>
              <a:buNone/>
            </a:pPr>
            <a:r>
              <a:rPr lang="nl-BE">
                <a:solidFill>
                  <a:schemeClr val="accent1"/>
                </a:solidFill>
              </a:rPr>
              <a:t>John was jong. John speelde graag met lego</a:t>
            </a:r>
            <a:r>
              <a:rPr lang="nl-BE"/>
              <a:t>.</a:t>
            </a:r>
            <a:br>
              <a:rPr lang="nl-BE"/>
            </a:br>
            <a:br>
              <a:rPr lang="nl-BE"/>
            </a:br>
            <a:r>
              <a:rPr lang="nl-BE"/>
              <a:t>      </a:t>
            </a:r>
            <a:r>
              <a:rPr lang="nl-BE" b="1">
                <a:solidFill>
                  <a:schemeClr val="accent1"/>
                </a:solidFill>
              </a:rPr>
              <a:t>John speelde </a:t>
            </a:r>
            <a:r>
              <a:rPr lang="nl-BE">
                <a:solidFill>
                  <a:schemeClr val="accent1"/>
                </a:solidFill>
              </a:rPr>
              <a:t>graag met lego, toen hij jong </a:t>
            </a:r>
            <a:r>
              <a:rPr lang="nl-BE">
                <a:solidFill>
                  <a:srgbClr val="FF0000"/>
                </a:solidFill>
              </a:rPr>
              <a:t>was</a:t>
            </a:r>
            <a:r>
              <a:rPr lang="nl-BE"/>
              <a:t>.</a:t>
            </a:r>
            <a:endParaRPr/>
          </a:p>
        </p:txBody>
      </p:sp>
      <p:sp>
        <p:nvSpPr>
          <p:cNvPr id="168" name="Google Shape;168;p11"/>
          <p:cNvSpPr/>
          <p:nvPr/>
        </p:nvSpPr>
        <p:spPr>
          <a:xfrm>
            <a:off x="205740" y="3429000"/>
            <a:ext cx="674370" cy="621792"/>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nl-BE" sz="1800" b="0" i="0" u="none" strike="noStrike" cap="none">
                <a:solidFill>
                  <a:schemeClr val="lt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pic>
        <p:nvPicPr>
          <p:cNvPr id="169" name="Google Shape;169;p11"/>
          <p:cNvPicPr preferRelativeResize="0"/>
          <p:nvPr/>
        </p:nvPicPr>
        <p:blipFill rotWithShape="1">
          <a:blip r:embed="rId3">
            <a:alphaModFix/>
          </a:blip>
          <a:srcRect/>
          <a:stretch/>
        </p:blipFill>
        <p:spPr>
          <a:xfrm>
            <a:off x="11488738" y="6154738"/>
            <a:ext cx="487362" cy="48736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2"/>
          <p:cNvSpPr txBox="1">
            <a:spLocks noGrp="1"/>
          </p:cNvSpPr>
          <p:nvPr>
            <p:ph type="title"/>
          </p:nvPr>
        </p:nvSpPr>
        <p:spPr>
          <a:xfrm>
            <a:off x="125730" y="365125"/>
            <a:ext cx="11967210" cy="526986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alibri"/>
              <a:buNone/>
            </a:pPr>
            <a:r>
              <a:rPr lang="nl-BE">
                <a:solidFill>
                  <a:schemeClr val="accent1"/>
                </a:solidFill>
              </a:rPr>
              <a:t>John was jong. John speelde graag met lego</a:t>
            </a:r>
            <a:r>
              <a:rPr lang="nl-BE"/>
              <a:t>.</a:t>
            </a:r>
            <a:br>
              <a:rPr lang="nl-BE"/>
            </a:br>
            <a:br>
              <a:rPr lang="nl-BE"/>
            </a:br>
            <a:r>
              <a:rPr lang="nl-BE"/>
              <a:t>      </a:t>
            </a:r>
            <a:r>
              <a:rPr lang="nl-BE" b="1">
                <a:solidFill>
                  <a:schemeClr val="accent1"/>
                </a:solidFill>
              </a:rPr>
              <a:t>John speelde </a:t>
            </a:r>
            <a:r>
              <a:rPr lang="nl-BE">
                <a:solidFill>
                  <a:schemeClr val="accent1"/>
                </a:solidFill>
              </a:rPr>
              <a:t>graag met lego,</a:t>
            </a:r>
            <a:r>
              <a:rPr lang="nl-BE" u="sng">
                <a:solidFill>
                  <a:schemeClr val="accent1"/>
                </a:solidFill>
              </a:rPr>
              <a:t> toen </a:t>
            </a:r>
            <a:r>
              <a:rPr lang="nl-BE">
                <a:solidFill>
                  <a:schemeClr val="accent1"/>
                </a:solidFill>
              </a:rPr>
              <a:t>hij jong </a:t>
            </a:r>
            <a:r>
              <a:rPr lang="nl-BE">
                <a:solidFill>
                  <a:srgbClr val="FF0000"/>
                </a:solidFill>
              </a:rPr>
              <a:t>was</a:t>
            </a:r>
            <a:r>
              <a:rPr lang="nl-BE"/>
              <a:t>.</a:t>
            </a:r>
            <a:br>
              <a:rPr lang="nl-BE"/>
            </a:br>
            <a:br>
              <a:rPr lang="nl-BE"/>
            </a:br>
            <a:r>
              <a:rPr lang="nl-BE"/>
              <a:t>      </a:t>
            </a:r>
            <a:r>
              <a:rPr lang="nl-BE" u="sng">
                <a:solidFill>
                  <a:schemeClr val="accent1"/>
                </a:solidFill>
              </a:rPr>
              <a:t>Toen</a:t>
            </a:r>
            <a:r>
              <a:rPr lang="nl-BE">
                <a:solidFill>
                  <a:schemeClr val="accent1"/>
                </a:solidFill>
              </a:rPr>
              <a:t> hij jong </a:t>
            </a:r>
            <a:r>
              <a:rPr lang="nl-BE">
                <a:solidFill>
                  <a:srgbClr val="FF0000"/>
                </a:solidFill>
              </a:rPr>
              <a:t>was</a:t>
            </a:r>
            <a:r>
              <a:rPr lang="nl-BE">
                <a:solidFill>
                  <a:schemeClr val="accent1"/>
                </a:solidFill>
              </a:rPr>
              <a:t>, </a:t>
            </a:r>
            <a:r>
              <a:rPr lang="nl-BE">
                <a:solidFill>
                  <a:srgbClr val="FF0000"/>
                </a:solidFill>
              </a:rPr>
              <a:t>speelde John</a:t>
            </a:r>
            <a:r>
              <a:rPr lang="nl-BE">
                <a:solidFill>
                  <a:schemeClr val="accent1"/>
                </a:solidFill>
              </a:rPr>
              <a:t> graag met lego.</a:t>
            </a:r>
            <a:br>
              <a:rPr lang="nl-BE">
                <a:solidFill>
                  <a:schemeClr val="accent1"/>
                </a:solidFill>
              </a:rPr>
            </a:br>
            <a:endParaRPr>
              <a:solidFill>
                <a:schemeClr val="accent1"/>
              </a:solidFill>
            </a:endParaRPr>
          </a:p>
        </p:txBody>
      </p:sp>
      <p:sp>
        <p:nvSpPr>
          <p:cNvPr id="175" name="Google Shape;175;p12"/>
          <p:cNvSpPr/>
          <p:nvPr/>
        </p:nvSpPr>
        <p:spPr>
          <a:xfrm>
            <a:off x="125730" y="2408808"/>
            <a:ext cx="674370" cy="621792"/>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nl-BE" sz="1800" b="0" i="0" u="none" strike="noStrike" cap="none">
                <a:solidFill>
                  <a:schemeClr val="lt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76" name="Google Shape;176;p12"/>
          <p:cNvSpPr/>
          <p:nvPr/>
        </p:nvSpPr>
        <p:spPr>
          <a:xfrm>
            <a:off x="125730" y="3314700"/>
            <a:ext cx="674370" cy="834390"/>
          </a:xfrm>
          <a:prstGeom prst="rightArrow">
            <a:avLst>
              <a:gd name="adj1" fmla="val 50000"/>
              <a:gd name="adj2" fmla="val 3125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nl-BE" sz="1800" b="0" i="0" u="none" strike="noStrike" cap="none">
                <a:solidFill>
                  <a:schemeClr val="lt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77" name="Google Shape;177;p12"/>
          <p:cNvSpPr/>
          <p:nvPr/>
        </p:nvSpPr>
        <p:spPr>
          <a:xfrm>
            <a:off x="5520690" y="4343400"/>
            <a:ext cx="2205990" cy="342900"/>
          </a:xfrm>
          <a:prstGeom prst="leftRightArrow">
            <a:avLst>
              <a:gd name="adj1" fmla="val 50000"/>
              <a:gd name="adj2" fmla="val 50000"/>
            </a:avLst>
          </a:prstGeom>
          <a:solidFill>
            <a:srgbClr val="FF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78" name="Google Shape;178;p12"/>
          <p:cNvPicPr preferRelativeResize="0"/>
          <p:nvPr/>
        </p:nvPicPr>
        <p:blipFill rotWithShape="1">
          <a:blip r:embed="rId3">
            <a:alphaModFix/>
          </a:blip>
          <a:srcRect/>
          <a:stretch/>
        </p:blipFill>
        <p:spPr>
          <a:xfrm>
            <a:off x="11488738" y="6154738"/>
            <a:ext cx="487362" cy="48736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nl-BE"/>
              <a:t>TOEN met emoties</a:t>
            </a:r>
            <a:br>
              <a:rPr lang="nl-BE"/>
            </a:br>
            <a:endParaRPr/>
          </a:p>
        </p:txBody>
      </p:sp>
      <p:sp>
        <p:nvSpPr>
          <p:cNvPr id="184" name="Google Shape;184;p25"/>
          <p:cNvSpPr txBox="1"/>
          <p:nvPr/>
        </p:nvSpPr>
        <p:spPr>
          <a:xfrm>
            <a:off x="971551" y="1536799"/>
            <a:ext cx="10618800" cy="3417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nl-BE" sz="2400" b="0" i="0" u="none" strike="noStrike" cap="none">
                <a:solidFill>
                  <a:srgbClr val="000000"/>
                </a:solidFill>
                <a:latin typeface="Arial"/>
                <a:ea typeface="Arial"/>
                <a:cs typeface="Arial"/>
                <a:sym typeface="Arial"/>
              </a:rPr>
              <a:t>Wanneer was je blij?</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nl-BE" sz="2400" b="0" i="0" u="none" strike="noStrike" cap="none">
                <a:solidFill>
                  <a:srgbClr val="000000"/>
                </a:solidFill>
                <a:latin typeface="Arial"/>
                <a:ea typeface="Arial"/>
                <a:cs typeface="Arial"/>
                <a:sym typeface="Arial"/>
              </a:rPr>
              <a:t>Bijvoorbeeld : Ik was blij toen ik mijn diploma kreeg.</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nl-BE" sz="2400" b="0" i="0" u="none" strike="noStrike" cap="none">
                <a:solidFill>
                  <a:srgbClr val="000000"/>
                </a:solidFill>
                <a:latin typeface="Arial"/>
                <a:ea typeface="Arial"/>
                <a:cs typeface="Arial"/>
                <a:sym typeface="Arial"/>
              </a:rPr>
              <a:t>Wanneer was je verdrietig?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nl-BE" sz="2400" b="0" i="0" u="none" strike="noStrike" cap="none">
                <a:solidFill>
                  <a:srgbClr val="000000"/>
                </a:solidFill>
                <a:latin typeface="Arial"/>
                <a:ea typeface="Arial"/>
                <a:cs typeface="Arial"/>
                <a:sym typeface="Arial"/>
              </a:rPr>
              <a:t>Bijvoorbeeld: Toen mijn vader stierf, was ik heel verdrietig. </a:t>
            </a:r>
            <a:endParaRPr sz="1400" b="0" i="0" u="none" strike="noStrike" cap="none">
              <a:solidFill>
                <a:srgbClr val="000000"/>
              </a:solidFill>
              <a:latin typeface="Arial"/>
              <a:ea typeface="Arial"/>
              <a:cs typeface="Arial"/>
              <a:sym typeface="Arial"/>
            </a:endParaRPr>
          </a:p>
        </p:txBody>
      </p:sp>
      <p:pic>
        <p:nvPicPr>
          <p:cNvPr id="185" name="Google Shape;185;p25" descr="depressief en verdrietig emoticon op witte achtergrond 7062961 Vectorkunst  bij Vecteezy"/>
          <p:cNvPicPr preferRelativeResize="0"/>
          <p:nvPr/>
        </p:nvPicPr>
        <p:blipFill rotWithShape="1">
          <a:blip r:embed="rId3">
            <a:alphaModFix/>
          </a:blip>
          <a:srcRect/>
          <a:stretch/>
        </p:blipFill>
        <p:spPr>
          <a:xfrm>
            <a:off x="4399323" y="5259297"/>
            <a:ext cx="1325575" cy="1325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g333c25fdeb4_0_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nl-BE"/>
              <a:t>TOEN met emoties</a:t>
            </a:r>
            <a:br>
              <a:rPr lang="nl-BE"/>
            </a:br>
            <a:endParaRPr/>
          </a:p>
        </p:txBody>
      </p:sp>
      <p:sp>
        <p:nvSpPr>
          <p:cNvPr id="191" name="Google Shape;191;g333c25fdeb4_0_0"/>
          <p:cNvSpPr txBox="1"/>
          <p:nvPr/>
        </p:nvSpPr>
        <p:spPr>
          <a:xfrm>
            <a:off x="971551" y="1536799"/>
            <a:ext cx="10618800" cy="2739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nl-BE" sz="2400" b="0" i="0" u="none" strike="noStrike" cap="none">
                <a:solidFill>
                  <a:srgbClr val="000000"/>
                </a:solidFill>
                <a:latin typeface="Arial"/>
                <a:ea typeface="Arial"/>
                <a:cs typeface="Arial"/>
                <a:sym typeface="Arial"/>
              </a:rPr>
              <a:t>Wanneer was je </a:t>
            </a:r>
            <a:r>
              <a:rPr lang="nl-BE" sz="2400"/>
              <a:t>koppig?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nl-BE" sz="2400" b="0" i="0" u="none" strike="noStrike" cap="none">
                <a:solidFill>
                  <a:srgbClr val="000000"/>
                </a:solidFill>
                <a:latin typeface="Arial"/>
                <a:ea typeface="Arial"/>
                <a:cs typeface="Arial"/>
                <a:sym typeface="Arial"/>
              </a:rPr>
              <a:t>Wanneer was je </a:t>
            </a:r>
            <a:r>
              <a:rPr lang="nl-BE" sz="2400"/>
              <a:t>  onzeker?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1400" b="0" i="0" u="none" strike="noStrike" cap="none">
              <a:solidFill>
                <a:srgbClr val="000000"/>
              </a:solidFill>
              <a:latin typeface="Arial"/>
              <a:ea typeface="Arial"/>
              <a:cs typeface="Arial"/>
              <a:sym typeface="Arial"/>
            </a:endParaRPr>
          </a:p>
        </p:txBody>
      </p:sp>
      <p:pic>
        <p:nvPicPr>
          <p:cNvPr id="192" name="Google Shape;192;g333c25fdeb4_0_0" descr="depressief en verdrietig emoticon op witte achtergrond 7062961 Vectorkunst  bij Vecteezy"/>
          <p:cNvPicPr preferRelativeResize="0"/>
          <p:nvPr/>
        </p:nvPicPr>
        <p:blipFill rotWithShape="1">
          <a:blip r:embed="rId3">
            <a:alphaModFix/>
          </a:blip>
          <a:srcRect/>
          <a:stretch/>
        </p:blipFill>
        <p:spPr>
          <a:xfrm>
            <a:off x="3811978" y="4671949"/>
            <a:ext cx="1912916" cy="191291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nl-BE"/>
              <a:t>EN JIJ?</a:t>
            </a:r>
            <a:endParaRPr/>
          </a:p>
        </p:txBody>
      </p:sp>
      <p:sp>
        <p:nvSpPr>
          <p:cNvPr id="198" name="Google Shape;198;p26"/>
          <p:cNvSpPr txBox="1"/>
          <p:nvPr/>
        </p:nvSpPr>
        <p:spPr>
          <a:xfrm>
            <a:off x="971551" y="1536799"/>
            <a:ext cx="4057649" cy="30469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nl-BE" sz="2400" b="0" i="0" u="none" strike="noStrike" cap="none">
                <a:solidFill>
                  <a:srgbClr val="000000"/>
                </a:solidFill>
                <a:latin typeface="Arial"/>
                <a:ea typeface="Arial"/>
                <a:cs typeface="Arial"/>
                <a:sym typeface="Arial"/>
              </a:rPr>
              <a:t>Wanneer was je onzeker?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nl-BE" sz="2400" b="0" i="0" u="none" strike="noStrike" cap="none">
                <a:solidFill>
                  <a:srgbClr val="000000"/>
                </a:solidFill>
                <a:latin typeface="Arial"/>
                <a:ea typeface="Arial"/>
                <a:cs typeface="Arial"/>
                <a:sym typeface="Arial"/>
              </a:rPr>
              <a:t>Wanneer was je boos?. </a:t>
            </a:r>
            <a:endParaRPr sz="1400" b="0" i="0" u="none" strike="noStrike" cap="none">
              <a:solidFill>
                <a:srgbClr val="000000"/>
              </a:solidFill>
              <a:latin typeface="Arial"/>
              <a:ea typeface="Arial"/>
              <a:cs typeface="Arial"/>
              <a:sym typeface="Arial"/>
            </a:endParaRPr>
          </a:p>
        </p:txBody>
      </p:sp>
      <p:pic>
        <p:nvPicPr>
          <p:cNvPr id="199" name="Google Shape;199;p26" descr="Insecure Man Images – Browse 12,349 Stock Photos, Vectors, and Video |  Adobe Stock"/>
          <p:cNvPicPr preferRelativeResize="0"/>
          <p:nvPr/>
        </p:nvPicPr>
        <p:blipFill rotWithShape="1">
          <a:blip r:embed="rId3">
            <a:alphaModFix/>
          </a:blip>
          <a:srcRect/>
          <a:stretch/>
        </p:blipFill>
        <p:spPr>
          <a:xfrm>
            <a:off x="5162551" y="978322"/>
            <a:ext cx="3867149" cy="2517493"/>
          </a:xfrm>
          <a:prstGeom prst="rect">
            <a:avLst/>
          </a:prstGeom>
          <a:noFill/>
          <a:ln>
            <a:noFill/>
          </a:ln>
        </p:spPr>
      </p:pic>
      <p:pic>
        <p:nvPicPr>
          <p:cNvPr id="200" name="Google Shape;200;p26" descr="Ik ben boos en dat mag – de kracht van woede - In de Roos"/>
          <p:cNvPicPr preferRelativeResize="0"/>
          <p:nvPr/>
        </p:nvPicPr>
        <p:blipFill rotWithShape="1">
          <a:blip r:embed="rId4">
            <a:alphaModFix/>
          </a:blip>
          <a:srcRect/>
          <a:stretch/>
        </p:blipFill>
        <p:spPr>
          <a:xfrm>
            <a:off x="5162551" y="3700462"/>
            <a:ext cx="3046988" cy="304698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nl-BE"/>
              <a:t>Wanneer was je bezorgd?</a:t>
            </a:r>
            <a:endParaRPr/>
          </a:p>
        </p:txBody>
      </p:sp>
      <p:pic>
        <p:nvPicPr>
          <p:cNvPr id="206" name="Google Shape;206;p27" descr="Are You Constantly Worrying About the Future? If So, You're Risking Your  Success Potential in These 3 Ways. | Inc.com"/>
          <p:cNvPicPr preferRelativeResize="0"/>
          <p:nvPr/>
        </p:nvPicPr>
        <p:blipFill rotWithShape="1">
          <a:blip r:embed="rId3">
            <a:alphaModFix/>
          </a:blip>
          <a:srcRect/>
          <a:stretch/>
        </p:blipFill>
        <p:spPr>
          <a:xfrm>
            <a:off x="838200" y="1558330"/>
            <a:ext cx="8772525" cy="493454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nl-BE"/>
              <a:t>Wanneer was je trots?</a:t>
            </a:r>
            <a:endParaRPr/>
          </a:p>
        </p:txBody>
      </p:sp>
      <p:pic>
        <p:nvPicPr>
          <p:cNvPr id="212" name="Google Shape;212;p28" descr="11 Steps to Feel More Proud of Yourself - Happier Human"/>
          <p:cNvPicPr preferRelativeResize="0"/>
          <p:nvPr/>
        </p:nvPicPr>
        <p:blipFill rotWithShape="1">
          <a:blip r:embed="rId3">
            <a:alphaModFix/>
          </a:blip>
          <a:srcRect/>
          <a:stretch/>
        </p:blipFill>
        <p:spPr>
          <a:xfrm>
            <a:off x="2881311" y="1400175"/>
            <a:ext cx="5092700" cy="5092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nl-BE"/>
              <a:t>Wanneer was je jaloers?</a:t>
            </a:r>
            <a:endParaRPr/>
          </a:p>
        </p:txBody>
      </p:sp>
      <p:pic>
        <p:nvPicPr>
          <p:cNvPr id="218" name="Google Shape;218;p29" descr="Gelukkig paar zoenen en knuffelen. meisje is jaloers en boos. | Premium Foto"/>
          <p:cNvPicPr preferRelativeResize="0"/>
          <p:nvPr/>
        </p:nvPicPr>
        <p:blipFill rotWithShape="1">
          <a:blip r:embed="rId3">
            <a:alphaModFix/>
          </a:blip>
          <a:srcRect/>
          <a:stretch/>
        </p:blipFill>
        <p:spPr>
          <a:xfrm>
            <a:off x="838200" y="1690688"/>
            <a:ext cx="6778625" cy="4517689"/>
          </a:xfrm>
          <a:prstGeom prst="rect">
            <a:avLst/>
          </a:prstGeom>
          <a:noFill/>
          <a:ln>
            <a:noFill/>
          </a:ln>
        </p:spPr>
      </p:pic>
    </p:spTree>
  </p:cSld>
  <p:clrMapOvr>
    <a:masterClrMapping/>
  </p:clrMapOvr>
</p:sld>
</file>

<file path=ppt/theme/theme1.xml><?xml version="1.0" encoding="utf-8"?>
<a:theme xmlns:a="http://schemas.openxmlformats.org/drawingml/2006/main" name="Kantoorth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497</Words>
  <Application>Microsoft Office PowerPoint</Application>
  <PresentationFormat>Breedbeeld</PresentationFormat>
  <Paragraphs>45</Paragraphs>
  <Slides>17</Slides>
  <Notes>17</Notes>
  <HiddenSlides>0</HiddenSlides>
  <MMClips>0</MMClips>
  <ScaleCrop>false</ScaleCrop>
  <HeadingPairs>
    <vt:vector size="6" baseType="variant">
      <vt:variant>
        <vt:lpstr>Gebruikte lettertypen</vt:lpstr>
      </vt:variant>
      <vt:variant>
        <vt:i4>2</vt:i4>
      </vt:variant>
      <vt:variant>
        <vt:lpstr>Thema</vt:lpstr>
      </vt:variant>
      <vt:variant>
        <vt:i4>1</vt:i4>
      </vt:variant>
      <vt:variant>
        <vt:lpstr>Diatitels</vt:lpstr>
      </vt:variant>
      <vt:variant>
        <vt:i4>17</vt:i4>
      </vt:variant>
    </vt:vector>
  </HeadingPairs>
  <TitlesOfParts>
    <vt:vector size="20" baseType="lpstr">
      <vt:lpstr>Arial</vt:lpstr>
      <vt:lpstr>Calibri</vt:lpstr>
      <vt:lpstr>Kantoorthema</vt:lpstr>
      <vt:lpstr>Hoe maken we een lange zin met TOEN?</vt:lpstr>
      <vt:lpstr>Toen &gt; We maken van 2 aparte korte zinnen 1 lange zin   Ik at graag chocolade. Ik was een klein meisje.             1) Ik at graag chocolade 2) Ik was een klein meisje  We gebruiken TOEN altijd met de IMPERFECTUM (wat DEED jij?) </vt:lpstr>
      <vt:lpstr>    Toen &gt; 2 zinnen samenzetten.  Ik at graag chocolade. Ik was een klein meisje.    2 opties: OPTIE 1 we zetten TOEN in het MIDDEN van de zin.   Ik at graag chocolade, toen ik een klein meisje was.     </vt:lpstr>
      <vt:lpstr>    Toen &gt; 2 zinnen integreren.  Ik at graag chocolade. Ik was een klein meisje.    2 opties: OPTIE 2: We zetten TOEN aan HET BEGIN van de zin.   Ik at graag chocolade, toen ik een klein meisje was.         Toen ik een klein meisje  was, at ik graag chocolade. </vt:lpstr>
      <vt:lpstr>Anna was een klein meisje. Ze at graag ijsjes.</vt:lpstr>
      <vt:lpstr>  Anna was een klein meisje. Ze at graag ijsjes.       Ze at graag ijsjes, toen ze een klein meisje was.   </vt:lpstr>
      <vt:lpstr>  Anna was een klein meisje. Ze at graag ijsjes.       Ze at graag ijsjes, toen ze een klein meisje was.        Toen Anna een klein meisje was, at ze graag ijsjes </vt:lpstr>
      <vt:lpstr>  Anna was een klein meisje. Ze at graag ijsjes.       Ze at graag ijsjes, toen ze een klein meisje was.        Toen Anna een klein meisje was, at ze graag ijsjes. </vt:lpstr>
      <vt:lpstr>     John was jong. Hij speelde graag met lego. </vt:lpstr>
      <vt:lpstr>John was jong. John speelde graag met lego.        John speelde graag met lego, toen hij jong was.</vt:lpstr>
      <vt:lpstr>John was jong. John speelde graag met lego.        John speelde graag met lego, toen hij jong was.        Toen hij jong was, speelde John graag met lego. </vt:lpstr>
      <vt:lpstr>TOEN met emoties </vt:lpstr>
      <vt:lpstr>TOEN met emoties </vt:lpstr>
      <vt:lpstr>EN JIJ?</vt:lpstr>
      <vt:lpstr>Wanneer was je bezorgd?</vt:lpstr>
      <vt:lpstr>Wanneer was je trots?</vt:lpstr>
      <vt:lpstr>Wanneer was je jaloers?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freya keppens</dc:creator>
  <cp:lastModifiedBy>Marian Thorrez</cp:lastModifiedBy>
  <cp:revision>1</cp:revision>
  <dcterms:created xsi:type="dcterms:W3CDTF">2020-04-21T10:09:33Z</dcterms:created>
  <dcterms:modified xsi:type="dcterms:W3CDTF">2025-05-21T11:11:16Z</dcterms:modified>
</cp:coreProperties>
</file>