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rRez97ktcay1KT3kEbhRiij+J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uth Van Driessch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6327BB-4474-434D-8119-907626EEDAE0}">
  <a:tblStyle styleId="{3B6327BB-4474-434D-8119-907626EEDA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9-21T17:29:29.856" idx="1">
    <p:pos x="4582" y="1744"/>
    <p:text/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Af0MpUOE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59398df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59398df8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59398df88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59398df88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objec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dia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ekop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van twee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elijking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een tite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g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 met bijschrif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fbeelding met bijschrif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en verticale teks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e titel en teks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59398df88c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159398df88c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nl-BE" sz="5300">
                <a:solidFill>
                  <a:srgbClr val="4472C4"/>
                </a:solidFill>
              </a:rPr>
              <a:t>HET PERFECTUM MET INFINITIEVEN</a:t>
            </a:r>
            <a:endParaRPr sz="5300">
              <a:solidFill>
                <a:srgbClr val="4472C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59398df88c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nl-BE">
                <a:latin typeface="Aharoni"/>
                <a:ea typeface="Aharoni"/>
                <a:cs typeface="Aharoni"/>
                <a:sym typeface="Aharoni"/>
              </a:rPr>
              <a:t>					</a:t>
            </a:r>
            <a:endParaRPr/>
          </a:p>
        </p:txBody>
      </p:sp>
      <p:sp>
        <p:nvSpPr>
          <p:cNvPr id="91" name="Google Shape;91;g159398df88c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2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nl-BE" sz="4000"/>
              <a:t>Maak </a:t>
            </a:r>
            <a:r>
              <a:rPr lang="nl-BE" sz="4000" b="1"/>
              <a:t>het perfectum </a:t>
            </a:r>
            <a:r>
              <a:rPr lang="nl-BE" sz="4000"/>
              <a:t>van deze zin: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4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nl-BE" sz="4000"/>
              <a:t>Ik werk vandaag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endParaRPr sz="4000"/>
          </a:p>
        </p:txBody>
      </p:sp>
      <p:sp>
        <p:nvSpPr>
          <p:cNvPr id="92" name="Google Shape;92;g159398df88c_0_6"/>
          <p:cNvSpPr txBox="1"/>
          <p:nvPr/>
        </p:nvSpPr>
        <p:spPr>
          <a:xfrm>
            <a:off x="873875" y="4350375"/>
            <a:ext cx="10515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Ik </a:t>
            </a:r>
            <a:r>
              <a:rPr lang="nl-BE" sz="4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heb </a:t>
            </a: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vandaag </a:t>
            </a:r>
            <a:r>
              <a:rPr lang="nl-BE" sz="4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gewerkt</a:t>
            </a: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nl-BE">
                <a:latin typeface="Aharoni"/>
                <a:ea typeface="Aharoni"/>
                <a:cs typeface="Aharoni"/>
                <a:sym typeface="Aharoni"/>
              </a:rPr>
              <a:t>					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2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nl-BE" sz="4000"/>
              <a:t>Maak </a:t>
            </a:r>
            <a:r>
              <a:rPr lang="nl-BE" sz="4000" b="1"/>
              <a:t>het perfectum </a:t>
            </a:r>
            <a:r>
              <a:rPr lang="nl-BE" sz="4000"/>
              <a:t>van deze zin: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4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nl-BE" sz="4000"/>
              <a:t>Ik moet vandaag werken.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09"/>
              <a:buFont typeface="Arial"/>
              <a:buNone/>
            </a:pPr>
            <a:endParaRPr sz="529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i="1" u="sng"/>
          </a:p>
        </p:txBody>
      </p:sp>
      <p:sp>
        <p:nvSpPr>
          <p:cNvPr id="99" name="Google Shape;99;p2"/>
          <p:cNvSpPr txBox="1"/>
          <p:nvPr/>
        </p:nvSpPr>
        <p:spPr>
          <a:xfrm>
            <a:off x="906850" y="4413300"/>
            <a:ext cx="10317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Ik </a:t>
            </a:r>
            <a:r>
              <a:rPr lang="nl-BE" sz="4000">
                <a:solidFill>
                  <a:srgbClr val="4472C4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heb</a:t>
            </a: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 vandaag </a:t>
            </a:r>
            <a:r>
              <a:rPr lang="nl-BE" sz="4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moeten werken</a:t>
            </a:r>
            <a:r>
              <a:rPr lang="nl-BE" sz="4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nl-BE">
                <a:latin typeface="Aharoni"/>
                <a:ea typeface="Aharoni"/>
                <a:cs typeface="Aharoni"/>
                <a:sym typeface="Aharoni"/>
              </a:rPr>
              <a:t>Perfectum met dubbele infinitief </a:t>
            </a:r>
            <a:endParaRPr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436228"/>
            <a:ext cx="10515600" cy="574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nl-BE"/>
              <a:t>Maak het perfectum van deze zin: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Presens: 		Ik </a:t>
            </a:r>
            <a:r>
              <a:rPr lang="nl-BE" sz="3600" u="sng"/>
              <a:t>moet</a:t>
            </a:r>
            <a:r>
              <a:rPr lang="nl-BE" sz="3600"/>
              <a:t> vandaag </a:t>
            </a:r>
            <a:r>
              <a:rPr lang="nl-BE" sz="3600" u="sng"/>
              <a:t>werken</a:t>
            </a:r>
            <a:r>
              <a:rPr lang="nl-BE" sz="3600"/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Perfectum: 	Ik </a:t>
            </a:r>
            <a:r>
              <a:rPr lang="nl-BE" sz="3600" b="1">
                <a:solidFill>
                  <a:srgbClr val="FF0000"/>
                </a:solidFill>
              </a:rPr>
              <a:t>heb</a:t>
            </a:r>
            <a:r>
              <a:rPr lang="nl-BE" sz="3600"/>
              <a:t> vandaag </a:t>
            </a:r>
            <a:r>
              <a:rPr lang="nl-BE" sz="3600" b="1">
                <a:solidFill>
                  <a:srgbClr val="FF0000"/>
                </a:solidFill>
              </a:rPr>
              <a:t>moeten</a:t>
            </a:r>
            <a:r>
              <a:rPr lang="nl-BE" sz="3600"/>
              <a:t> werken.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Presens:		Ik </a:t>
            </a:r>
            <a:r>
              <a:rPr lang="nl-BE" sz="3600" u="sng"/>
              <a:t>kan</a:t>
            </a:r>
            <a:r>
              <a:rPr lang="nl-BE" sz="3600"/>
              <a:t> het werk </a:t>
            </a:r>
            <a:r>
              <a:rPr lang="nl-BE" sz="3600" u="sng"/>
              <a:t>doen</a:t>
            </a:r>
            <a:r>
              <a:rPr lang="nl-BE" sz="3600"/>
              <a:t>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Perfectum:	Ik </a:t>
            </a:r>
            <a:r>
              <a:rPr lang="nl-BE" sz="3600" b="1">
                <a:solidFill>
                  <a:srgbClr val="FF0000"/>
                </a:solidFill>
              </a:rPr>
              <a:t>heb</a:t>
            </a:r>
            <a:r>
              <a:rPr lang="nl-BE" sz="3600"/>
              <a:t> het werk </a:t>
            </a:r>
            <a:r>
              <a:rPr lang="nl-BE" sz="3600" b="1">
                <a:solidFill>
                  <a:srgbClr val="FF0000"/>
                </a:solidFill>
              </a:rPr>
              <a:t>kunnen</a:t>
            </a:r>
            <a:r>
              <a:rPr lang="nl-BE" sz="3600"/>
              <a:t> doen.</a:t>
            </a:r>
            <a:endParaRPr/>
          </a:p>
        </p:txBody>
      </p:sp>
      <p:graphicFrame>
        <p:nvGraphicFramePr>
          <p:cNvPr id="106" name="Google Shape;106;p3"/>
          <p:cNvGraphicFramePr/>
          <p:nvPr/>
        </p:nvGraphicFramePr>
        <p:xfrm>
          <a:off x="653642" y="290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{3B6327BB-4474-434D-8119-907626EEDAE0}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941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4400" b="0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PERFECTUM met DUBBELE INFINITIEF</a:t>
                      </a:r>
                      <a:endParaRPr sz="4400" u="none" strike="noStrike" cap="none"/>
                    </a:p>
                  </a:txBody>
                  <a:tcPr marL="91200" marR="91200" marT="45600" marB="45600">
                    <a:lnL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6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" name="Google Shape;107;p3"/>
          <p:cNvSpPr/>
          <p:nvPr/>
        </p:nvSpPr>
        <p:spPr>
          <a:xfrm>
            <a:off x="838200" y="499156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65283" y="5154472"/>
            <a:ext cx="772886" cy="41951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34861" y="5102619"/>
            <a:ext cx="108918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een zin met  2 of meer verba:  perfectum met </a:t>
            </a:r>
            <a:r>
              <a:rPr lang="nl-BE" sz="28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dubbele infinitief 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5117284" y="1996580"/>
            <a:ext cx="1451296" cy="13422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" name="Google Shape;111;p3"/>
          <p:cNvCxnSpPr/>
          <p:nvPr/>
        </p:nvCxnSpPr>
        <p:spPr>
          <a:xfrm>
            <a:off x="4798503" y="3783435"/>
            <a:ext cx="1782286" cy="234892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1451112" y="492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nl-BE">
                <a:latin typeface="Aharoni"/>
                <a:ea typeface="Aharoni"/>
                <a:cs typeface="Aharoni"/>
                <a:sym typeface="Aharoni"/>
              </a:rPr>
              <a:t>			</a:t>
            </a:r>
            <a:r>
              <a:rPr lang="nl-BE" sz="3600">
                <a:latin typeface="Aharoni"/>
                <a:ea typeface="Aharoni"/>
                <a:cs typeface="Aharoni"/>
                <a:sym typeface="Aharoni"/>
              </a:rPr>
              <a:t>Hebben of zijn?</a:t>
            </a:r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body" idx="1"/>
          </p:nvPr>
        </p:nvSpPr>
        <p:spPr>
          <a:xfrm>
            <a:off x="838199" y="1224793"/>
            <a:ext cx="11128513" cy="495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Presens:          Ik </a:t>
            </a:r>
            <a:r>
              <a:rPr lang="nl-BE" sz="3600" u="sng"/>
              <a:t>ga </a:t>
            </a:r>
            <a:r>
              <a:rPr lang="nl-BE" sz="3600"/>
              <a:t>vandaag </a:t>
            </a:r>
            <a:r>
              <a:rPr lang="nl-BE" sz="3600" u="sng"/>
              <a:t>werken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Perfectum:     Ik </a:t>
            </a:r>
            <a:r>
              <a:rPr lang="nl-BE" sz="3600">
                <a:solidFill>
                  <a:srgbClr val="FF0000"/>
                </a:solidFill>
              </a:rPr>
              <a:t>heb?/ben? </a:t>
            </a:r>
            <a:r>
              <a:rPr lang="nl-BE" sz="3600"/>
              <a:t>vandaag gaan werken.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i="1" u="sng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nl-BE" sz="3600"/>
              <a:t>Perfectum:      Ik </a:t>
            </a:r>
            <a:r>
              <a:rPr lang="nl-BE" sz="3600">
                <a:solidFill>
                  <a:srgbClr val="FF0000"/>
                </a:solidFill>
              </a:rPr>
              <a:t>ben</a:t>
            </a:r>
            <a:r>
              <a:rPr lang="nl-BE" sz="3600"/>
              <a:t> vandaag gaan werken.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283764" y="3273771"/>
            <a:ext cx="4850296" cy="132556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nl-BE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Kijk naar </a:t>
            </a:r>
            <a:r>
              <a:rPr lang="nl-B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infinitief 1= gaan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nl-BE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Perfectum van “gaan” = Ik </a:t>
            </a:r>
            <a:r>
              <a:rPr lang="nl-BE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</a:t>
            </a:r>
            <a:r>
              <a:rPr lang="nl-BE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BE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gegaan”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nl-BE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DUS: “Ik </a:t>
            </a:r>
            <a:r>
              <a:rPr lang="nl-BE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 </a:t>
            </a:r>
            <a:r>
              <a:rPr lang="nl-BE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gaan werken”</a:t>
            </a:r>
            <a:endParaRPr sz="180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 flipH="1">
            <a:off x="7569425" y="2977533"/>
            <a:ext cx="769232" cy="59247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4"/>
          <p:cNvSpPr txBox="1"/>
          <p:nvPr/>
        </p:nvSpPr>
        <p:spPr>
          <a:xfrm>
            <a:off x="1752600" y="5666692"/>
            <a:ext cx="8686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Het eerste verbum bepaalt HEBBEN of ZIJN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22514" y="5718544"/>
            <a:ext cx="772886" cy="41951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98503" y="2032050"/>
            <a:ext cx="3489820" cy="488849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7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</a:pPr>
            <a:r>
              <a:rPr lang="nl-BE" sz="3600">
                <a:latin typeface="Aharoni"/>
                <a:ea typeface="Aharoni"/>
                <a:cs typeface="Aharoni"/>
                <a:sym typeface="Aharoni"/>
              </a:rPr>
              <a:t>VERBA + INFINITIEF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body" idx="1"/>
          </p:nvPr>
        </p:nvSpPr>
        <p:spPr>
          <a:xfrm>
            <a:off x="310243" y="1338943"/>
            <a:ext cx="11043557" cy="530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500"/>
              <a:buNone/>
            </a:pPr>
            <a:r>
              <a:rPr lang="nl-BE" sz="3500" b="1">
                <a:solidFill>
                  <a:srgbClr val="0070C0"/>
                </a:solidFill>
              </a:rPr>
              <a:t>1)Modale verba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l-BE" sz="3200"/>
              <a:t>Kunnen, mogen, moeten, willen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l-BE" sz="3200"/>
              <a:t>Ik mag naar tv kijken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🡪"/>
            </a:pPr>
            <a:r>
              <a:rPr lang="nl-BE" sz="3200"/>
              <a:t>ik </a:t>
            </a:r>
            <a:r>
              <a:rPr lang="nl-BE" sz="3200" b="1"/>
              <a:t>heb</a:t>
            </a:r>
            <a:r>
              <a:rPr lang="nl-BE" sz="3200"/>
              <a:t> naar tv </a:t>
            </a:r>
            <a:r>
              <a:rPr lang="nl-BE" sz="3200" b="1"/>
              <a:t>mogen kijken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l-BE" sz="3200"/>
              <a:t>Ik moet de klas opruimen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nl-BE" sz="3200"/>
              <a:t>🡪 ik </a:t>
            </a:r>
            <a:r>
              <a:rPr lang="nl-BE" sz="3200" b="1"/>
              <a:t>heb </a:t>
            </a:r>
            <a:r>
              <a:rPr lang="nl-BE" sz="3200"/>
              <a:t>de klas </a:t>
            </a:r>
            <a:r>
              <a:rPr lang="nl-BE" sz="3200" b="1"/>
              <a:t>moeten opruimen</a:t>
            </a:r>
            <a:endParaRPr sz="32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838200" y="-498763"/>
            <a:ext cx="10515600" cy="1874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</a:pPr>
            <a:r>
              <a:rPr lang="nl-BE" sz="3600">
                <a:latin typeface="Aharoni"/>
                <a:ea typeface="Aharoni"/>
                <a:cs typeface="Aharoni"/>
                <a:sym typeface="Aharoni"/>
              </a:rPr>
              <a:t>VERBA + INFINITIEF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129309" y="461819"/>
            <a:ext cx="11831782" cy="639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None/>
            </a:pPr>
            <a:r>
              <a:rPr lang="nl-BE" sz="7300" b="1">
                <a:solidFill>
                  <a:srgbClr val="0070C0"/>
                </a:solidFill>
              </a:rPr>
              <a:t>2) Andere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8400"/>
              <a:t>Gaan, blijven, laten, voelen, horen, zien, leren, helpen…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6500"/>
              <a:t>Ik ga een uurtje lopen! </a:t>
            </a:r>
            <a:endParaRPr/>
          </a:p>
          <a:p>
            <a:pPr marL="228600" lvl="0" indent="-228631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🡪"/>
            </a:pPr>
            <a:r>
              <a:rPr lang="nl-BE" sz="6500"/>
              <a:t>Ik </a:t>
            </a:r>
            <a:r>
              <a:rPr lang="nl-BE" sz="6500" b="1"/>
              <a:t>ben</a:t>
            </a:r>
            <a:r>
              <a:rPr lang="nl-BE" sz="6500"/>
              <a:t> een uurtje </a:t>
            </a:r>
            <a:r>
              <a:rPr lang="nl-BE" sz="6500" b="1"/>
              <a:t>gaan lopen.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6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6500"/>
              <a:t>Zij laat haar kaarten blokkeren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6500"/>
              <a:t>🡪Zij </a:t>
            </a:r>
            <a:r>
              <a:rPr lang="nl-BE" sz="6500" b="1"/>
              <a:t>heeft </a:t>
            </a:r>
            <a:r>
              <a:rPr lang="nl-BE" sz="6500"/>
              <a:t>haar kaarten </a:t>
            </a:r>
            <a:r>
              <a:rPr lang="nl-BE" sz="6500" b="1"/>
              <a:t>laten blokkeren.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65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6500"/>
              <a:t>Ik laat mijn haar knippen!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nl-BE" sz="6500"/>
              <a:t>🡪 Ik </a:t>
            </a:r>
            <a:r>
              <a:rPr lang="nl-BE" sz="6500" b="1"/>
              <a:t>heb </a:t>
            </a:r>
            <a:r>
              <a:rPr lang="nl-BE" sz="6500"/>
              <a:t>mijn haar </a:t>
            </a:r>
            <a:r>
              <a:rPr lang="nl-BE" sz="6500" b="1"/>
              <a:t>laten knippen.</a:t>
            </a:r>
            <a:endParaRPr sz="6500"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haroni"/>
              <a:buNone/>
            </a:pPr>
            <a:r>
              <a:rPr lang="nl-BE" sz="3600">
                <a:latin typeface="Aharoni"/>
                <a:ea typeface="Aharoni"/>
                <a:cs typeface="Aharoni"/>
                <a:sym typeface="Aharoni"/>
              </a:rPr>
              <a:t>VERBA + INFINITIEF</a:t>
            </a:r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92364" y="1289957"/>
            <a:ext cx="11321307" cy="4935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nl-BE" b="1"/>
              <a:t> </a:t>
            </a:r>
            <a:r>
              <a:rPr lang="nl-BE" sz="3500" b="1">
                <a:solidFill>
                  <a:srgbClr val="0070C0"/>
                </a:solidFill>
              </a:rPr>
              <a:t>3) Staan, liggen, zitten, lopen ,… TE + INFINITIEF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nl-BE" sz="3100"/>
              <a:t>Hij zit in de les te bellen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🡪"/>
            </a:pPr>
            <a:r>
              <a:rPr lang="nl-BE"/>
              <a:t>Hij heeft in de les </a:t>
            </a:r>
            <a:r>
              <a:rPr lang="nl-BE" b="1"/>
              <a:t>zitten bellen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nl-BE" sz="3100"/>
              <a:t>Hij ligt een boek </a:t>
            </a:r>
            <a:r>
              <a:rPr lang="nl-BE" sz="3100">
                <a:solidFill>
                  <a:srgbClr val="FF0000"/>
                </a:solidFill>
              </a:rPr>
              <a:t>te</a:t>
            </a:r>
            <a:r>
              <a:rPr lang="nl-BE" sz="3100"/>
              <a:t> lezen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🡪"/>
            </a:pPr>
            <a:r>
              <a:rPr lang="nl-BE"/>
              <a:t>Hij </a:t>
            </a:r>
            <a:r>
              <a:rPr lang="nl-BE" b="1"/>
              <a:t>heeft</a:t>
            </a:r>
            <a:r>
              <a:rPr lang="nl-BE"/>
              <a:t> een boek </a:t>
            </a:r>
            <a:r>
              <a:rPr lang="nl-BE" b="1"/>
              <a:t>liggen lezen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endParaRPr sz="36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22514" y="5718544"/>
            <a:ext cx="772886" cy="41951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2041237" y="5634821"/>
            <a:ext cx="367607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BE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 TE valt weg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</Words>
  <Application>Microsoft Office PowerPoint</Application>
  <PresentationFormat>Breedbeeld</PresentationFormat>
  <Paragraphs>66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3" baseType="lpstr">
      <vt:lpstr>Aharoni</vt:lpstr>
      <vt:lpstr>Arial</vt:lpstr>
      <vt:lpstr>Calibri</vt:lpstr>
      <vt:lpstr>Noto Sans Symbols</vt:lpstr>
      <vt:lpstr>Kantoorthema</vt:lpstr>
      <vt:lpstr>PowerPoint-presentatie</vt:lpstr>
      <vt:lpstr>     </vt:lpstr>
      <vt:lpstr>     </vt:lpstr>
      <vt:lpstr>Perfectum met dubbele infinitief </vt:lpstr>
      <vt:lpstr>   Hebben of zijn?</vt:lpstr>
      <vt:lpstr>VERBA + INFINITIEF</vt:lpstr>
      <vt:lpstr>VERBA + INFINITIEF</vt:lpstr>
      <vt:lpstr>VERBA + INFINITIEF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Ruth Van Driessche</dc:creator>
  <cp:lastModifiedBy>Marian Thorrez</cp:lastModifiedBy>
  <cp:revision>1</cp:revision>
  <dcterms:created xsi:type="dcterms:W3CDTF">2020-09-04T09:22:31Z</dcterms:created>
  <dcterms:modified xsi:type="dcterms:W3CDTF">2025-06-04T13:42:10Z</dcterms:modified>
</cp:coreProperties>
</file>