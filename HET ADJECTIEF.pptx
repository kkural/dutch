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embeddedFontLst>
    <p:embeddedFont>
      <p:font typeface="Open Sans" panose="020B0606030504020204" pitchFamily="34" charset="0"/>
      <p:regular r:id="rId13"/>
      <p:bold r:id="rId14"/>
      <p:italic r:id="rId15"/>
      <p:boldItalic r:id="rId16"/>
    </p:embeddedFont>
    <p:embeddedFont>
      <p:font typeface="PT Sans Narrow" panose="020B0506020203020204" pitchFamily="34" charset="0"/>
      <p:regular r:id="rId17"/>
      <p:bold r:id="rId18"/>
    </p:embeddedFont>
    <p:embeddedFont>
      <p:font typeface="Verdana" panose="020B0604030504040204" pitchFamily="3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333C761-2CA6-4605-A030-C0E9C9D94A44}">
  <a:tblStyle styleId="{4333C761-2CA6-4605-A030-C0E9C9D94A4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6" d="100"/>
          <a:sy n="116" d="100"/>
        </p:scale>
        <p:origin x="75" y="31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3846a12565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3846a12565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3846a12565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13846a12565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3846a12565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13846a12565_1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13846a12565_1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13846a12565_1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846a12565_1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13846a12565_1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3846a12565_1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13846a12565_1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3846a12565_1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13846a12565_1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3846a125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13846a12565_1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767e38bac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767e38bac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2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6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>
            <a:spLocks noGrp="1"/>
          </p:cNvSpPr>
          <p:nvPr>
            <p:ph type="body" idx="1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>
            <a:spLocks noGrp="1"/>
          </p:cNvSpPr>
          <p:nvPr>
            <p:ph type="body" idx="1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‹nr.›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trop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HET ADJECTIEF</a:t>
            </a:r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Niveau 1.2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HET GEBRUIK</a:t>
            </a:r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b="1" u="sng"/>
              <a:t>Wat</a:t>
            </a:r>
            <a:r>
              <a:rPr lang="nl"/>
              <a:t> zijn adjectieven?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nl"/>
              <a:t>→ Adjectieven geven </a:t>
            </a:r>
            <a:r>
              <a:rPr lang="nl" b="1">
                <a:solidFill>
                  <a:schemeClr val="accent3"/>
                </a:solidFill>
              </a:rPr>
              <a:t>MEER INFORMATIE</a:t>
            </a:r>
            <a:r>
              <a:rPr lang="nl"/>
              <a:t> over een subjectief.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nl"/>
              <a:t>Het huis is </a:t>
            </a:r>
            <a:r>
              <a:rPr lang="nl" u="sng"/>
              <a:t>groot</a:t>
            </a:r>
            <a:r>
              <a:rPr lang="nl"/>
              <a:t>. Het is een </a:t>
            </a:r>
            <a:r>
              <a:rPr lang="nl" u="sng"/>
              <a:t>groot</a:t>
            </a:r>
            <a:r>
              <a:rPr lang="nl"/>
              <a:t> huis.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nl"/>
              <a:t>De kat is </a:t>
            </a:r>
            <a:r>
              <a:rPr lang="nl" u="sng"/>
              <a:t>dik</a:t>
            </a:r>
            <a:r>
              <a:rPr lang="nl"/>
              <a:t>. Het is een </a:t>
            </a:r>
            <a:r>
              <a:rPr lang="nl" u="sng"/>
              <a:t>dikk</a:t>
            </a:r>
            <a:r>
              <a:rPr lang="nl" u="sng">
                <a:solidFill>
                  <a:schemeClr val="accent1"/>
                </a:solidFill>
              </a:rPr>
              <a:t>e</a:t>
            </a:r>
            <a:r>
              <a:rPr lang="nl"/>
              <a:t> kat.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nl"/>
              <a:t>De muur is </a:t>
            </a:r>
            <a:r>
              <a:rPr lang="nl" u="sng"/>
              <a:t>rood</a:t>
            </a:r>
            <a:r>
              <a:rPr lang="nl"/>
              <a:t>. Het is een </a:t>
            </a:r>
            <a:r>
              <a:rPr lang="nl" u="sng"/>
              <a:t>rod</a:t>
            </a:r>
            <a:r>
              <a:rPr lang="nl" u="sng">
                <a:solidFill>
                  <a:schemeClr val="accent1"/>
                </a:solidFill>
              </a:rPr>
              <a:t>e</a:t>
            </a:r>
            <a:r>
              <a:rPr lang="nl"/>
              <a:t> muur.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WANNEER ‘+E’?</a:t>
            </a:r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b="1" u="sng"/>
              <a:t>Wanneer</a:t>
            </a:r>
            <a:r>
              <a:rPr lang="nl"/>
              <a:t> schrijf je ‘+E’ aan een adjectief?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WANNEER ‘+E’?</a:t>
            </a: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b="1" u="sng"/>
              <a:t>Wanneer</a:t>
            </a:r>
            <a:r>
              <a:rPr lang="nl"/>
              <a:t> schrijf je ‘+E’ aan een adjectief?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nl">
                <a:highlight>
                  <a:schemeClr val="dk1"/>
                </a:highlight>
              </a:rPr>
              <a:t>OPTIE 1</a:t>
            </a:r>
            <a:r>
              <a:rPr lang="nl"/>
              <a:t> = Het adjectief staat NA het substantief.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nl"/>
              <a:t>Het huis is </a:t>
            </a:r>
            <a:r>
              <a:rPr lang="nl" u="sng"/>
              <a:t>groot</a:t>
            </a:r>
            <a:r>
              <a:rPr lang="nl"/>
              <a:t>.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nl"/>
              <a:t>De kat is </a:t>
            </a:r>
            <a:r>
              <a:rPr lang="nl" u="sng"/>
              <a:t>dik</a:t>
            </a:r>
            <a:r>
              <a:rPr lang="nl"/>
              <a:t>.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nl"/>
              <a:t>De muur is </a:t>
            </a:r>
            <a:r>
              <a:rPr lang="nl" u="sng"/>
              <a:t>rood</a:t>
            </a:r>
            <a:r>
              <a:rPr lang="nl"/>
              <a:t>.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WANNEER ‘+E’?</a:t>
            </a:r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body" idx="1"/>
          </p:nvPr>
        </p:nvSpPr>
        <p:spPr>
          <a:xfrm>
            <a:off x="311700" y="1323400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b="1" u="sng"/>
              <a:t>Wanneer</a:t>
            </a:r>
            <a:r>
              <a:rPr lang="nl"/>
              <a:t> schrijf je ‘+E’ aan een adjectief?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nl">
                <a:highlight>
                  <a:schemeClr val="dk1"/>
                </a:highlight>
              </a:rPr>
              <a:t>OPTIE 1</a:t>
            </a:r>
            <a:r>
              <a:rPr lang="nl"/>
              <a:t> = Het adjectief staat NA het substantief.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nl"/>
              <a:t>Het huis is </a:t>
            </a:r>
            <a:r>
              <a:rPr lang="nl" u="sng"/>
              <a:t>groot</a:t>
            </a:r>
            <a:r>
              <a:rPr lang="nl"/>
              <a:t>.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nl"/>
              <a:t>De kat is </a:t>
            </a:r>
            <a:r>
              <a:rPr lang="nl" u="sng"/>
              <a:t>dik</a:t>
            </a:r>
            <a:r>
              <a:rPr lang="nl"/>
              <a:t>.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nl"/>
              <a:t>De muur is </a:t>
            </a:r>
            <a:r>
              <a:rPr lang="nl" u="sng"/>
              <a:t>rood</a:t>
            </a:r>
            <a:r>
              <a:rPr lang="nl"/>
              <a:t>. </a:t>
            </a:r>
            <a:endParaRPr/>
          </a:p>
        </p:txBody>
      </p:sp>
      <p:sp>
        <p:nvSpPr>
          <p:cNvPr id="92" name="Google Shape;92;p17"/>
          <p:cNvSpPr/>
          <p:nvPr/>
        </p:nvSpPr>
        <p:spPr>
          <a:xfrm>
            <a:off x="2813975" y="3076475"/>
            <a:ext cx="1544400" cy="4449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7"/>
          <p:cNvSpPr txBox="1"/>
          <p:nvPr/>
        </p:nvSpPr>
        <p:spPr>
          <a:xfrm>
            <a:off x="4633200" y="3098825"/>
            <a:ext cx="2997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2000">
                <a:latin typeface="Open Sans"/>
                <a:ea typeface="Open Sans"/>
                <a:cs typeface="Open Sans"/>
                <a:sym typeface="Open Sans"/>
              </a:rPr>
              <a:t>NOOIT ‘E’</a:t>
            </a:r>
            <a:endParaRPr sz="20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WANNEER ‘+E’?</a:t>
            </a:r>
            <a:endParaRPr/>
          </a:p>
        </p:txBody>
      </p:sp>
      <p:sp>
        <p:nvSpPr>
          <p:cNvPr id="99" name="Google Shape;99;p18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b="1" u="sng"/>
              <a:t>Wanneer</a:t>
            </a:r>
            <a:r>
              <a:rPr lang="nl"/>
              <a:t> schrijf je ‘+E’ aan een adjectief?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nl">
                <a:highlight>
                  <a:schemeClr val="dk1"/>
                </a:highlight>
              </a:rPr>
              <a:t>OPTIE 2</a:t>
            </a:r>
            <a:r>
              <a:rPr lang="nl"/>
              <a:t> = Het adjectief staat VOOR het substantief.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nl"/>
              <a:t>Het is een </a:t>
            </a:r>
            <a:r>
              <a:rPr lang="nl" u="sng"/>
              <a:t>groot</a:t>
            </a:r>
            <a:r>
              <a:rPr lang="nl"/>
              <a:t> huis.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nl"/>
              <a:t>Het is een </a:t>
            </a:r>
            <a:r>
              <a:rPr lang="nl" u="sng"/>
              <a:t>dikk</a:t>
            </a:r>
            <a:r>
              <a:rPr lang="nl" u="sng">
                <a:solidFill>
                  <a:schemeClr val="accent1"/>
                </a:solidFill>
              </a:rPr>
              <a:t>e</a:t>
            </a:r>
            <a:r>
              <a:rPr lang="nl"/>
              <a:t> kat.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nl"/>
              <a:t>Het is een </a:t>
            </a:r>
            <a:r>
              <a:rPr lang="nl" u="sng"/>
              <a:t>rod</a:t>
            </a:r>
            <a:r>
              <a:rPr lang="nl" u="sng">
                <a:solidFill>
                  <a:schemeClr val="accent1"/>
                </a:solidFill>
              </a:rPr>
              <a:t>e</a:t>
            </a:r>
            <a:r>
              <a:rPr lang="nl"/>
              <a:t> muur.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WANNEER ‘+E’?</a:t>
            </a:r>
            <a:endParaRPr/>
          </a:p>
        </p:txBody>
      </p:sp>
      <p:sp>
        <p:nvSpPr>
          <p:cNvPr id="105" name="Google Shape;105;p19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b="1" u="sng"/>
              <a:t>Wanneer</a:t>
            </a:r>
            <a:r>
              <a:rPr lang="nl"/>
              <a:t> schrijf je ‘+E’ aan een adjectief?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nl">
                <a:highlight>
                  <a:schemeClr val="dk1"/>
                </a:highlight>
              </a:rPr>
              <a:t>OPTIE 2</a:t>
            </a:r>
            <a:r>
              <a:rPr lang="nl"/>
              <a:t> = Het adjectief staat VOOR het substantief.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nl"/>
              <a:t>Het is een </a:t>
            </a:r>
            <a:r>
              <a:rPr lang="nl" u="sng"/>
              <a:t>groot</a:t>
            </a:r>
            <a:r>
              <a:rPr lang="nl"/>
              <a:t> huis.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nl"/>
              <a:t>Het is een </a:t>
            </a:r>
            <a:r>
              <a:rPr lang="nl" u="sng"/>
              <a:t>dikk</a:t>
            </a:r>
            <a:r>
              <a:rPr lang="nl" u="sng">
                <a:solidFill>
                  <a:schemeClr val="accent1"/>
                </a:solidFill>
              </a:rPr>
              <a:t>e</a:t>
            </a:r>
            <a:r>
              <a:rPr lang="nl"/>
              <a:t> kat.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nl"/>
              <a:t>Het is een </a:t>
            </a:r>
            <a:r>
              <a:rPr lang="nl" u="sng"/>
              <a:t>rod</a:t>
            </a:r>
            <a:r>
              <a:rPr lang="nl" u="sng">
                <a:solidFill>
                  <a:schemeClr val="accent1"/>
                </a:solidFill>
              </a:rPr>
              <a:t>e</a:t>
            </a:r>
            <a:r>
              <a:rPr lang="nl"/>
              <a:t> muur. </a:t>
            </a:r>
            <a:endParaRPr/>
          </a:p>
        </p:txBody>
      </p:sp>
      <p:sp>
        <p:nvSpPr>
          <p:cNvPr id="106" name="Google Shape;106;p19"/>
          <p:cNvSpPr/>
          <p:nvPr/>
        </p:nvSpPr>
        <p:spPr>
          <a:xfrm>
            <a:off x="2813975" y="3076475"/>
            <a:ext cx="1544400" cy="4449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9"/>
          <p:cNvSpPr txBox="1"/>
          <p:nvPr/>
        </p:nvSpPr>
        <p:spPr>
          <a:xfrm>
            <a:off x="4633200" y="3098825"/>
            <a:ext cx="2997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2000">
                <a:latin typeface="Open Sans"/>
                <a:ea typeface="Open Sans"/>
                <a:cs typeface="Open Sans"/>
                <a:sym typeface="Open Sans"/>
              </a:rPr>
              <a:t>SOMS ‘+E’</a:t>
            </a:r>
            <a:endParaRPr sz="20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WANNEER ‘+E’?</a:t>
            </a:r>
            <a:endParaRPr/>
          </a:p>
        </p:txBody>
      </p:sp>
      <p:sp>
        <p:nvSpPr>
          <p:cNvPr id="113" name="Google Shape;113;p20"/>
          <p:cNvSpPr txBox="1">
            <a:spLocks noGrp="1"/>
          </p:cNvSpPr>
          <p:nvPr>
            <p:ph type="body" idx="1"/>
          </p:nvPr>
        </p:nvSpPr>
        <p:spPr>
          <a:xfrm>
            <a:off x="311700" y="1213050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b="1" u="sng"/>
              <a:t>Wanneer</a:t>
            </a:r>
            <a:r>
              <a:rPr lang="nl"/>
              <a:t> schrijf je ‘+E’ aan een adjectief?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nl">
                <a:highlight>
                  <a:schemeClr val="dk1"/>
                </a:highlight>
              </a:rPr>
              <a:t>OPTIE 2</a:t>
            </a:r>
            <a:r>
              <a:rPr lang="nl"/>
              <a:t> = Het adjectief staat VOOR het substantief.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graphicFrame>
        <p:nvGraphicFramePr>
          <p:cNvPr id="114" name="Google Shape;114;p20"/>
          <p:cNvGraphicFramePr/>
          <p:nvPr/>
        </p:nvGraphicFramePr>
        <p:xfrm>
          <a:off x="925600" y="2394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{4333C761-2CA6-4605-A030-C0E9C9D94A44}</a:tableStyleId>
              </a:tblPr>
              <a:tblGrid>
                <a:gridCol w="2347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7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7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8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b="1"/>
                        <a:t>HET-woord</a:t>
                      </a:r>
                      <a:endParaRPr b="1"/>
                    </a:p>
                  </a:txBody>
                  <a:tcPr marL="91425" marR="91425" marT="91425" marB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b="1"/>
                        <a:t>DE-woord</a:t>
                      </a:r>
                      <a:endParaRPr b="1"/>
                    </a:p>
                  </a:txBody>
                  <a:tcPr marL="91425" marR="91425" marT="91425" marB="91425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200" b="1">
                          <a:solidFill>
                            <a:srgbClr val="666666"/>
                          </a:solidFill>
                        </a:rPr>
                        <a:t>geen artikel</a:t>
                      </a:r>
                      <a:endParaRPr sz="1200" b="1">
                        <a:solidFill>
                          <a:srgbClr val="666666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200"/>
                        <a:t>GEEN ‘E’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200"/>
                        <a:t>+E</a:t>
                      </a:r>
                      <a:endParaRPr sz="12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200" b="1">
                          <a:solidFill>
                            <a:srgbClr val="666666"/>
                          </a:solidFill>
                        </a:rPr>
                        <a:t>een / geen</a:t>
                      </a:r>
                      <a:endParaRPr sz="1200" b="1">
                        <a:solidFill>
                          <a:srgbClr val="666666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200"/>
                        <a:t>GEEN ‘E’</a:t>
                      </a:r>
                      <a:endParaRPr sz="1200"/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200"/>
                        <a:t>+E</a:t>
                      </a:r>
                      <a:endParaRPr sz="1200"/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200" b="1">
                          <a:solidFill>
                            <a:srgbClr val="666666"/>
                          </a:solidFill>
                        </a:rPr>
                        <a:t>de / het</a:t>
                      </a:r>
                      <a:endParaRPr sz="1200" b="1">
                        <a:solidFill>
                          <a:srgbClr val="666666"/>
                        </a:solidFill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200"/>
                        <a:t>+E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200"/>
                        <a:t>+E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3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200" b="1">
                          <a:solidFill>
                            <a:srgbClr val="666666"/>
                          </a:solidFill>
                        </a:rPr>
                        <a:t>pronomina </a:t>
                      </a:r>
                      <a:endParaRPr sz="1200" b="1">
                        <a:solidFill>
                          <a:srgbClr val="666666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200" b="1">
                          <a:solidFill>
                            <a:srgbClr val="666666"/>
                          </a:solidFill>
                        </a:rPr>
                        <a:t>- mijn/jouw/haar/…</a:t>
                      </a:r>
                      <a:endParaRPr sz="1200" b="1">
                        <a:solidFill>
                          <a:srgbClr val="666666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200" b="1">
                          <a:solidFill>
                            <a:srgbClr val="666666"/>
                          </a:solidFill>
                        </a:rPr>
                        <a:t>- die/dat/deze/dit</a:t>
                      </a:r>
                      <a:endParaRPr sz="1200" b="1">
                        <a:solidFill>
                          <a:srgbClr val="666666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200"/>
                        <a:t>+E</a:t>
                      </a:r>
                      <a:endParaRPr sz="1200"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200"/>
                        <a:t>+E</a:t>
                      </a:r>
                      <a:endParaRPr sz="1200"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WANNEER ‘+E’?</a:t>
            </a:r>
            <a:endParaRPr/>
          </a:p>
        </p:txBody>
      </p:sp>
      <p:sp>
        <p:nvSpPr>
          <p:cNvPr id="120" name="Google Shape;120;p2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b="1" u="sng"/>
              <a:t>Wanneer</a:t>
            </a:r>
            <a:r>
              <a:rPr lang="nl"/>
              <a:t> schrijf je ‘+E’ aan een adjectief?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nl">
                <a:highlight>
                  <a:schemeClr val="dk1"/>
                </a:highlight>
              </a:rPr>
              <a:t>PLURALIS</a:t>
            </a:r>
            <a:r>
              <a:rPr lang="nl"/>
              <a:t> = ALTIJD ‘+E’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nl">
                <a:highlight>
                  <a:schemeClr val="dk1"/>
                </a:highlight>
              </a:rPr>
              <a:t>SPECIAAL</a:t>
            </a:r>
            <a:r>
              <a:rPr lang="nl"/>
              <a:t> = NOOIT ‘+E’ bij…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AutoNum type="alphaLcParenR"/>
            </a:pPr>
            <a:r>
              <a:rPr lang="nl"/>
              <a:t>Het adjectief ‘gratis’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nl"/>
              <a:t>Adjectieven die eindigen op ‘-EN’ (Voorbeeld: effen)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nl"/>
              <a:t>Adjectieven die eindigen op ‘E’ (Voorbeeld: roze)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WANNEER ‘+EN’?</a:t>
            </a:r>
            <a:endParaRPr/>
          </a:p>
        </p:txBody>
      </p:sp>
      <p:sp>
        <p:nvSpPr>
          <p:cNvPr id="126" name="Google Shape;126;p22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b="1" u="sng"/>
              <a:t>Wanneer</a:t>
            </a:r>
            <a:r>
              <a:rPr lang="nl"/>
              <a:t> schrijf je ‘+EN’ aan een adjectief?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00"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nl">
                <a:highlight>
                  <a:schemeClr val="lt1"/>
                </a:highlight>
              </a:rPr>
              <a:t>→ Bij </a:t>
            </a:r>
            <a:r>
              <a:rPr lang="nl" b="1" u="sng">
                <a:highlight>
                  <a:schemeClr val="lt1"/>
                </a:highlight>
              </a:rPr>
              <a:t>MATERIALEN</a:t>
            </a:r>
            <a:r>
              <a:rPr lang="nl">
                <a:highlight>
                  <a:schemeClr val="lt1"/>
                </a:highlight>
              </a:rPr>
              <a:t> schrijven we ‘EN’ in plaats van ‘E’</a:t>
            </a:r>
            <a:endParaRPr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highlight>
                <a:schemeClr val="dk1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highlight>
                <a:schemeClr val="dk1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highlight>
                <a:schemeClr val="dk1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graphicFrame>
        <p:nvGraphicFramePr>
          <p:cNvPr id="127" name="Google Shape;127;p22"/>
          <p:cNvGraphicFramePr/>
          <p:nvPr/>
        </p:nvGraphicFramePr>
        <p:xfrm>
          <a:off x="952500" y="2789950"/>
          <a:ext cx="7239000" cy="1188630"/>
        </p:xfrm>
        <a:graphic>
          <a:graphicData uri="http://schemas.openxmlformats.org/drawingml/2006/table">
            <a:tbl>
              <a:tblPr>
                <a:noFill/>
                <a:tableStyleId>{4333C761-2CA6-4605-A030-C0E9C9D94A44}</a:tableStyleId>
              </a:tblPr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b="1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de stoel</a:t>
                      </a:r>
                      <a:endParaRPr b="1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b="1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het bed</a:t>
                      </a:r>
                      <a:endParaRPr b="1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een grot</a:t>
                      </a:r>
                      <a:r>
                        <a:rPr lang="nl" b="1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</a:t>
                      </a:r>
                      <a:r>
                        <a:rPr lang="nl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stoel (+E)</a:t>
                      </a:r>
                      <a:endParaRPr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een </a:t>
                      </a:r>
                      <a:r>
                        <a:rPr lang="nl" b="1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groot</a:t>
                      </a:r>
                      <a:r>
                        <a:rPr lang="nl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bed (BASIS)</a:t>
                      </a:r>
                      <a:endParaRPr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een hout</a:t>
                      </a:r>
                      <a:r>
                        <a:rPr lang="nl" b="1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en</a:t>
                      </a:r>
                      <a:r>
                        <a:rPr lang="nl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stoel (+EN)</a:t>
                      </a:r>
                      <a:endParaRPr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een hout</a:t>
                      </a:r>
                      <a:r>
                        <a:rPr lang="nl" b="1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en</a:t>
                      </a:r>
                      <a:r>
                        <a:rPr lang="nl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bed (+EN)</a:t>
                      </a:r>
                      <a:endParaRPr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8" name="Google Shape;128;p22"/>
          <p:cNvSpPr txBox="1"/>
          <p:nvPr/>
        </p:nvSpPr>
        <p:spPr>
          <a:xfrm>
            <a:off x="400500" y="4310850"/>
            <a:ext cx="7989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nl" sz="1800">
                <a:solidFill>
                  <a:schemeClr val="dk2"/>
                </a:solidFill>
                <a:highlight>
                  <a:schemeClr val="dk1"/>
                </a:highlight>
                <a:latin typeface="Open Sans"/>
                <a:ea typeface="Open Sans"/>
                <a:cs typeface="Open Sans"/>
                <a:sym typeface="Open Sans"/>
              </a:rPr>
              <a:t>SPECIAAL</a:t>
            </a:r>
            <a:r>
              <a:rPr lang="nl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→ aluminium / nylon / plastic = NOOIT ‘+EN’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431</Words>
  <Application>Microsoft Office PowerPoint</Application>
  <PresentationFormat>Diavoorstelling (16:9)</PresentationFormat>
  <Paragraphs>85</Paragraphs>
  <Slides>10</Slides>
  <Notes>10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10</vt:i4>
      </vt:variant>
    </vt:vector>
  </HeadingPairs>
  <TitlesOfParts>
    <vt:vector size="15" baseType="lpstr">
      <vt:lpstr>Verdana</vt:lpstr>
      <vt:lpstr>PT Sans Narrow</vt:lpstr>
      <vt:lpstr>Arial</vt:lpstr>
      <vt:lpstr>Open Sans</vt:lpstr>
      <vt:lpstr>Tropic</vt:lpstr>
      <vt:lpstr>HET ADJECTIEF</vt:lpstr>
      <vt:lpstr>HET GEBRUIK</vt:lpstr>
      <vt:lpstr>WANNEER ‘+E’?</vt:lpstr>
      <vt:lpstr>WANNEER ‘+E’?</vt:lpstr>
      <vt:lpstr>WANNEER ‘+E’?</vt:lpstr>
      <vt:lpstr>WANNEER ‘+E’?</vt:lpstr>
      <vt:lpstr>WANNEER ‘+E’?</vt:lpstr>
      <vt:lpstr>WANNEER ‘+E’?</vt:lpstr>
      <vt:lpstr>WANNEER ‘+E’?</vt:lpstr>
      <vt:lpstr>WANNEER ‘+EN’?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Marian Thorrez</dc:creator>
  <cp:lastModifiedBy>Marian Thorrez</cp:lastModifiedBy>
  <cp:revision>1</cp:revision>
  <dcterms:modified xsi:type="dcterms:W3CDTF">2025-05-07T11:55:03Z</dcterms:modified>
</cp:coreProperties>
</file>